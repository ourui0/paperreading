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30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2" r:id="rId10"/>
    <p:sldId id="261" r:id="rId11"/>
    <p:sldId id="263" r:id="rId12"/>
    <p:sldId id="26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大家好，今天我将为大家介绍一份关于OATest工具的改进方案。我们将聚焦于分析其当前的局限性，并提出两种针对性的改进策略，同时探讨这些策略可能面临的挑战及应对方法。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分享将分为四个部分。首先，我们会快速回顾OATest的核心工作原理。接着，深入分析其存在的两大局限性。然后，详细介绍我们提出的两种改进方案。最后，探讨这些方案在实施过程中可能遇到的挑战及相应的对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这张图概括了OATest的核心工作流程。它首先从官方测试中提取能触发优化的模式，然后将这些模式与多样化的上下文融合，生成新的测试用例，最终通过执行来发现Bug。这个流程是后续所有讨论的基础。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尽管OATest非常有效，但它存在两个核心局限性。首先，它的模式来源单一，完全依赖现有的测试用例，这限制了它的覆盖面。其次，它的插入策略过于保守，为了保证测试的有效性，牺牲了生成图的多样性，可能错过一些深层Bug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个方案是引入大语言模型。我们不再仅仅依赖于提取现有模式，而是让LLM像一个聪明的助手一样，基于已有知识创造出大量全新的、多样化的模式。更重要的是，我们建立一个反馈循环，让LLM不断学习那些能发现新Bug的成功模式，从而实现智能、高效的测试生成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方案是借鉴约束求解技术。我们不再是“先生成种子图，再硬塞模式”，而是把模式当作一个核心约束，让求解器围绕它动态生成完全合法且高度多样化的上下文环境。这种方法能极大地提升生成图的多样性和有效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然，引入LLM也带来了挑战，最主要的就是LLM可能产生“幻觉”，生成无效的代码。对此，我们的对策是：首先，让LLM在合法模式的基础上进行修改，而不是凭空创造；其次，在生成后增加一个轻量级的校验步骤，快速过滤掉无效的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约束求解方案同样面临挑战。例如，随机生成的上下文可能“稀释”模式的特征，或者前置的优化会破坏模式结构。对此，我们提出了建立“优化保护区”、进行“语义感知的属性对齐”以及采用“多阶段验证过滤”等对策，来平衡多样性和有效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我的分享到此结束，感谢大家的聆听。现在是问答环节，欢迎大家提问交流。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2.xml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tags" Target="../tags/tag10.xml"/><Relationship Id="rId13" Type="http://schemas.openxmlformats.org/officeDocument/2006/relationships/image" Target="../media/image13.svg"/><Relationship Id="rId12" Type="http://schemas.openxmlformats.org/officeDocument/2006/relationships/image" Target="../media/image12.png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9.svg"/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30" Type="http://schemas.openxmlformats.org/officeDocument/2006/relationships/notesSlide" Target="../notesSlides/notesSlide8.xml"/><Relationship Id="rId3" Type="http://schemas.openxmlformats.org/officeDocument/2006/relationships/tags" Target="../tags/tag15.xml"/><Relationship Id="rId29" Type="http://schemas.openxmlformats.org/officeDocument/2006/relationships/slideLayout" Target="../slideLayouts/slideLayout12.xml"/><Relationship Id="rId28" Type="http://schemas.openxmlformats.org/officeDocument/2006/relationships/image" Target="../media/image28.png"/><Relationship Id="rId27" Type="http://schemas.openxmlformats.org/officeDocument/2006/relationships/tags" Target="../tags/tag33.xml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image" Target="../media/image4.svg"/><Relationship Id="rId22" Type="http://schemas.openxmlformats.org/officeDocument/2006/relationships/image" Target="../media/image3.png"/><Relationship Id="rId21" Type="http://schemas.openxmlformats.org/officeDocument/2006/relationships/tags" Target="../tags/tag29.xml"/><Relationship Id="rId20" Type="http://schemas.openxmlformats.org/officeDocument/2006/relationships/tags" Target="../tags/tag28.xml"/><Relationship Id="rId2" Type="http://schemas.openxmlformats.org/officeDocument/2006/relationships/tags" Target="../tags/tag14.xml"/><Relationship Id="rId19" Type="http://schemas.openxmlformats.org/officeDocument/2006/relationships/tags" Target="../tags/tag27.xml"/><Relationship Id="rId18" Type="http://schemas.openxmlformats.org/officeDocument/2006/relationships/tags" Target="../tags/tag26.xml"/><Relationship Id="rId17" Type="http://schemas.openxmlformats.org/officeDocument/2006/relationships/tags" Target="../tags/tag25.xml"/><Relationship Id="rId16" Type="http://schemas.openxmlformats.org/officeDocument/2006/relationships/tags" Target="../tags/tag24.xml"/><Relationship Id="rId15" Type="http://schemas.openxmlformats.org/officeDocument/2006/relationships/tags" Target="../tags/tag23.xml"/><Relationship Id="rId14" Type="http://schemas.openxmlformats.org/officeDocument/2006/relationships/image" Target="../media/image27.svg"/><Relationship Id="rId13" Type="http://schemas.openxmlformats.org/officeDocument/2006/relationships/image" Target="../media/image26.png"/><Relationship Id="rId12" Type="http://schemas.openxmlformats.org/officeDocument/2006/relationships/tags" Target="../tags/tag22.xml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5080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743075"/>
            <a:ext cx="11176000" cy="3072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3600"/>
              <a:t>Optimization-Aware Test Generation for Deep Learning</a:t>
            </a:r>
            <a:endParaRPr lang="en-US" altLang="zh-CN" sz="3600"/>
          </a:p>
          <a:p>
            <a:pPr indent="0" algn="ctr">
              <a:lnSpc>
                <a:spcPct val="125000"/>
              </a:lnSpc>
              <a:defRPr/>
            </a:pPr>
            <a:r>
              <a:rPr lang="en-US" altLang="zh-CN" sz="3600"/>
              <a:t>Compilers</a:t>
            </a:r>
            <a:endParaRPr lang="en-US" altLang="zh-CN" sz="3600"/>
          </a:p>
          <a:p>
            <a:pPr indent="0" algn="ctr">
              <a:lnSpc>
                <a:spcPct val="125000"/>
              </a:lnSpc>
              <a:defRPr/>
            </a:pPr>
            <a:r>
              <a:rPr lang="en-US" altLang="zh-CN" sz="1100"/>
              <a:t>Qingchao Shen, Zan Wang, Haoyang Ma, Yongqiang Tian,</a:t>
            </a:r>
            <a:endParaRPr lang="en-US" altLang="zh-CN" sz="1100"/>
          </a:p>
          <a:p>
            <a:pPr indent="0" algn="ctr">
              <a:lnSpc>
                <a:spcPct val="125000"/>
              </a:lnSpc>
              <a:defRPr/>
            </a:pPr>
            <a:r>
              <a:rPr lang="en-US" altLang="zh-CN" sz="1100"/>
              <a:t> Lili Huang, Zibo Xiao</a:t>
            </a:r>
            <a:endParaRPr lang="en-US" altLang="zh-CN" sz="1100"/>
          </a:p>
          <a:p>
            <a:pPr indent="0" algn="ctr">
              <a:lnSpc>
                <a:spcPct val="125000"/>
              </a:lnSpc>
              <a:defRPr/>
            </a:pPr>
            <a:r>
              <a:rPr lang="en-US" altLang="zh-CN" sz="1100"/>
              <a:t>Junjie Chen1, Shing-Chi Cheung</a:t>
            </a:r>
            <a:endParaRPr lang="en-US" altLang="zh-CN" sz="1100"/>
          </a:p>
        </p:txBody>
      </p:sp>
      <p:sp>
        <p:nvSpPr>
          <p:cNvPr id="16" name="AutoShape 16"/>
          <p:cNvSpPr/>
          <p:nvPr/>
        </p:nvSpPr>
        <p:spPr>
          <a:xfrm>
            <a:off x="0" y="6604000"/>
            <a:ext cx="12192000" cy="2540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 CONTENTS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33500"/>
            <a:ext cx="1016000" cy="508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2540000" cy="3683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371600" y="2286000"/>
            <a:ext cx="1320800" cy="1320800"/>
          </a:xfrm>
          <a:prstGeom prst="ellipse">
            <a:avLst/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5600" y="2540000"/>
            <a:ext cx="812800" cy="812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7620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431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OATest原理概览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482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核心工作流程解析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467100" y="1905000"/>
            <a:ext cx="2540000" cy="3683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076700" y="2286000"/>
            <a:ext cx="1320800" cy="1320800"/>
          </a:xfrm>
          <a:prstGeom prst="ellipse">
            <a:avLst/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0700" y="2540000"/>
            <a:ext cx="812800" cy="812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34671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3467100" y="431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局限性分析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657600" y="482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模式来源与插入策略局限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172200" y="1905000"/>
            <a:ext cx="2540000" cy="3683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81800" y="2286000"/>
            <a:ext cx="1320800" cy="1320800"/>
          </a:xfrm>
          <a:prstGeom prst="ellipse">
            <a:avLst/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35800" y="2540000"/>
            <a:ext cx="812800" cy="812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1722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172200" y="431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改进方案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362700" y="482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LLM生成与约束求解深度融合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877300" y="1905000"/>
            <a:ext cx="2540000" cy="3683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9486900" y="2286000"/>
            <a:ext cx="1320800" cy="1320800"/>
          </a:xfrm>
          <a:prstGeom prst="ellipse">
            <a:avLst/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40900" y="2540000"/>
            <a:ext cx="812800" cy="8128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8773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877300" y="431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挑战与对策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67800" y="482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方案实施问题与解决思路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0" y="6223000"/>
            <a:ext cx="12192000" cy="6350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0" y="6324600"/>
            <a:ext cx="1219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OATest 技术分享 · 2026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OATest核心原理概览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6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OATest 通过“模式提取”和“计算图合成”两大核心步骤，将官方测试用例转化为多样化的新测试集，精准测试深度学习编译器的优化逻辑，高效发现潜在缺陷。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 l="1219" t="2302" r="1219" b="2302"/>
          <a:stretch>
            <a:fillRect/>
          </a:stretch>
        </p:blipFill>
        <p:spPr>
          <a:xfrm>
            <a:off x="1016000" y="2413000"/>
            <a:ext cx="10160000" cy="3683000"/>
          </a:xfrm>
          <a:prstGeom prst="roundRect">
            <a:avLst>
              <a:gd name="adj" fmla="val 3448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0000">
                <a:alpha val="15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1016000" y="6223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图示：OATest 全链路工作流程（输入 -&gt; 模式提取 -&gt; 图合成 -&gt; 测试执行）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444500"/>
            <a:ext cx="762000" cy="508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OATest的两大核心局限性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42969">
            <a:off x="762040" y="13271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50800" cap="rnd" cmpd="sng">
            <a:solidFill>
              <a:srgbClr val="000000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5080000" cy="4318000"/>
          </a:xfrm>
          <a:prstGeom prst="roundRect">
            <a:avLst>
              <a:gd name="adj" fmla="val 3529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  <a:effectLst>
            <a:outerShdw blurRad="203200" dist="101600" dir="54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2641600" y="2159000"/>
            <a:ext cx="1066800" cy="1066800"/>
          </a:xfrm>
          <a:prstGeom prst="ellipse">
            <a:avLst/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94000" y="2311400"/>
            <a:ext cx="762000" cy="762000"/>
          </a:xfrm>
          <a:prstGeom prst="rect">
            <a:avLst/>
          </a:prstGeom>
        </p:spPr>
      </p:pic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1016000" y="34290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模式来源：依赖文档化测试</a:t>
            </a:r>
            <a:endParaRPr lang="en-US" sz="1100"/>
          </a:p>
        </p:txBody>
      </p:sp>
      <p:cxnSp>
        <p:nvCxnSpPr>
          <p:cNvPr id="8" name="Connector 8"/>
          <p:cNvCxnSpPr/>
          <p:nvPr>
            <p:custDataLst>
              <p:tags r:id="rId7"/>
            </p:custDataLst>
          </p:nvPr>
        </p:nvCxnSpPr>
        <p:spPr>
          <a:xfrm rot="-10110">
            <a:off x="1143009" y="39941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>
            <p:custDataLst>
              <p:tags r:id="rId8"/>
            </p:custDataLst>
          </p:nvPr>
        </p:nvSpPr>
        <p:spPr>
          <a:xfrm>
            <a:off x="1016000" y="4191000"/>
            <a:ext cx="457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模式完全依赖开发者编写的测试用例，数量有限且易受主观限制。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后果：</a:t>
            </a:r>
            <a:r>
              <a:rPr lang="zh-CN" altLang="en-US" sz="140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场景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覆盖不足，且模式库需要持续的人工维护与更新。</a:t>
            </a:r>
            <a:endParaRPr lang="en-US" sz="14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>
            <p:custDataLst>
              <p:tags r:id="rId9"/>
            </p:custDataLst>
          </p:nvPr>
        </p:nvSpPr>
        <p:spPr>
          <a:xfrm>
            <a:off x="6350000" y="1778000"/>
            <a:ext cx="5080000" cy="4318000"/>
          </a:xfrm>
          <a:prstGeom prst="roundRect">
            <a:avLst>
              <a:gd name="adj" fmla="val 3529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  <a:effectLst>
            <a:outerShdw blurRad="203200" dist="101600" dir="54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10"/>
            </p:custDataLst>
          </p:nvPr>
        </p:nvSpPr>
        <p:spPr>
          <a:xfrm>
            <a:off x="8229600" y="2159000"/>
            <a:ext cx="1066800" cy="1066800"/>
          </a:xfrm>
          <a:prstGeom prst="ellipse">
            <a:avLst/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82000" y="2311400"/>
            <a:ext cx="762000" cy="762000"/>
          </a:xfrm>
          <a:prstGeom prst="rect">
            <a:avLst/>
          </a:prstGeom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6604000" y="34290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插入策略：强约束匹配</a:t>
            </a:r>
            <a:endParaRPr lang="en-US" sz="1100"/>
          </a:p>
        </p:txBody>
      </p:sp>
      <p:cxnSp>
        <p:nvCxnSpPr>
          <p:cNvPr id="14" name="Connector 14"/>
          <p:cNvCxnSpPr/>
          <p:nvPr>
            <p:custDataLst>
              <p:tags r:id="rId15"/>
            </p:custDataLst>
          </p:nvPr>
        </p:nvCxnSpPr>
        <p:spPr>
          <a:xfrm rot="-10110">
            <a:off x="6731009" y="399415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>
            <p:custDataLst>
              <p:tags r:id="rId16"/>
            </p:custDataLst>
          </p:nvPr>
        </p:nvSpPr>
        <p:spPr>
          <a:xfrm>
            <a:off x="6604000" y="4191000"/>
            <a:ext cx="457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倾向寻找高度兼容的锚点，为保证有效性牺牲了生成图的多样性。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后果：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导致结构僵化，上下文耦合度低，搜索空间被人为窄化，易漏检。</a:t>
            </a:r>
            <a:endParaRPr lang="en-US" sz="14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6477000"/>
            <a:ext cx="12192000" cy="381000"/>
          </a:xfrm>
          <a:prstGeom prst="roundRect">
            <a:avLst>
              <a:gd name="adj" fmla="val 0"/>
            </a:avLst>
          </a:prstGeom>
          <a:solidFill>
            <a:srgbClr val="1F232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0" y="6502400"/>
            <a:ext cx="1219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核心痛点：依赖人工输入与保守策略限制了自动化挖掘的潜力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改进方案一：LLM模式生成 + 正反馈循环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核心思想：从“提取”到“创造”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159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不再局限于现有模式的提取，而是利用大语言模型（LLM）的推理能力，基于已知模式进行变异与创造，生成海量高价值的“变体模式”。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175000"/>
            <a:ext cx="10668000" cy="1206500"/>
          </a:xfrm>
          <a:prstGeom prst="roundRect">
            <a:avLst>
              <a:gd name="adj" fmla="val 10526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34671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032000" y="3327400"/>
            <a:ext cx="889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突破数量瓶颈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从根本上解决模式样本不足问题，生成无限多样化的测试用例。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572000"/>
            <a:ext cx="10668000" cy="1206500"/>
          </a:xfrm>
          <a:prstGeom prst="roundRect">
            <a:avLst>
              <a:gd name="adj" fmla="val 10526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641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2032000" y="4724400"/>
            <a:ext cx="889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智能探索闭环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建立正反馈机制，让模型持续学习成功发现Bug的策略，实现测试的自我进化。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5969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核心价值：以AI智能驱动测试效率指数级提升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改进方案二：基于约束求解的深度融合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核心思想：动态生成上下文环境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1066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将模式本身作为一组固定的核心约束，直接交给 NNSmith 的约束求解引擎。让求解器围绕该模式，从无到有地动态生成完全合法的上下游上下文。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302000"/>
            <a:ext cx="10668000" cy="1206500"/>
          </a:xfrm>
          <a:prstGeom prst="roundRect">
            <a:avLst>
              <a:gd name="adj" fmla="val 10526"/>
            </a:avLst>
          </a:prstGeom>
          <a:solidFill>
            <a:srgbClr val="F8F8F8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35941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032000" y="3429000"/>
            <a:ext cx="8636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保证模式必然存在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模式作为核心约束，被强制保留在最终生成的计算图中，避免被优化消除。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699000"/>
            <a:ext cx="10668000" cy="1206500"/>
          </a:xfrm>
          <a:prstGeom prst="roundRect">
            <a:avLst>
              <a:gd name="adj" fmla="val 10526"/>
            </a:avLst>
          </a:prstGeom>
          <a:solidFill>
            <a:srgbClr val="F8F8F8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9911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2032000" y="4826000"/>
            <a:ext cx="8636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极致的多样性与有效性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生成千奇百怪但100%合法的上下文，无需人工插入桥接算子，覆盖更多边界场景。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1" name="Connector 11"/>
          <p:cNvCxnSpPr/>
          <p:nvPr/>
        </p:nvCxnSpPr>
        <p:spPr>
          <a:xfrm rot="-4092">
            <a:off x="762004" y="5962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方案一：挑战与对策 —— 应对LLM“幻觉”的核心策略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270000" y="2159000"/>
            <a:ext cx="1016000" cy="1016000"/>
          </a:xfrm>
          <a:prstGeom prst="ellipse">
            <a:avLst/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73200" y="2362200"/>
            <a:ext cx="609600" cy="609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270000" y="34290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核心挑战：LLM生成“幻觉”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270000" y="4064000"/>
            <a:ext cx="4064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LLM可能生成逻辑无效、不符合语法规范的计算图，导致测试失败或系统异常，这是自动化生成过程中最大的不确定性风险。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5588000"/>
            <a:ext cx="5080000" cy="762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2032000"/>
          </a:xfrm>
          <a:prstGeom prst="roundRect">
            <a:avLst>
              <a:gd name="adj" fmla="val 625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604000" y="2032000"/>
            <a:ext cx="812800" cy="812800"/>
          </a:xfrm>
          <a:prstGeom prst="ellipse">
            <a:avLst/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6400" y="21844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620000" y="2032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对策一：基于合法模式修改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0" y="25400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让LLM在预设的合法计算图模式基础上进行增量修改，而非凭空创造，从源头降低幻觉概率。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3937000"/>
            <a:ext cx="5207000" cy="2032000"/>
          </a:xfrm>
          <a:prstGeom prst="roundRect">
            <a:avLst>
              <a:gd name="adj" fmla="val 625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604000" y="4318000"/>
            <a:ext cx="812800" cy="812800"/>
          </a:xfrm>
          <a:prstGeom prst="ellipse">
            <a:avLst/>
          </a:prstGeom>
          <a:solidFill>
            <a:srgbClr val="000000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56400" y="44704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620000" y="4318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对策二：轻量级生成后校验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0" y="48260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在生成流程末端增加快速语法检查器与类型校验器，实时过滤掉明显无效的测试用例，确保输入质量。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223000" y="6096000"/>
            <a:ext cx="520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000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策略核心：控制生成范围 + 后置质量拦截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方案二：挑战与对策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54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1778000" y="1968500"/>
            <a:ext cx="1270000" cy="1270000"/>
          </a:xfrm>
          <a:prstGeom prst="ellipse">
            <a:avLst/>
          </a:prstGeom>
          <a:solidFill>
            <a:srgbClr val="000000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32000" y="2222500"/>
            <a:ext cx="762000" cy="762000"/>
          </a:xfrm>
          <a:prstGeom prst="rect">
            <a:avLst/>
          </a:prstGeom>
        </p:spPr>
      </p:pic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1016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挑战：优化特征“稀释”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7"/>
            </p:custDataLst>
          </p:nvPr>
        </p:nvSpPr>
        <p:spPr>
          <a:xfrm>
            <a:off x="1016000" y="38735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随机上下文可能掩盖模式结构，导致优化无法被有效触发。</a:t>
            </a:r>
            <a:endParaRPr lang="en-US" sz="1100"/>
          </a:p>
        </p:txBody>
      </p:sp>
      <p:cxnSp>
        <p:nvCxnSpPr>
          <p:cNvPr id="9" name="Connector 9"/>
          <p:cNvCxnSpPr/>
          <p:nvPr>
            <p:custDataLst>
              <p:tags r:id="rId8"/>
            </p:custDataLst>
          </p:nvPr>
        </p:nvCxnSpPr>
        <p:spPr>
          <a:xfrm rot="-15626">
            <a:off x="1016014" y="46291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>
            <p:custDataLst>
              <p:tags r:id="rId9"/>
            </p:custDataLst>
          </p:nvPr>
        </p:nvSpPr>
        <p:spPr>
          <a:xfrm>
            <a:off x="1016000" y="4762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对策：建立“优化保护区”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确保模式的直接前后继算子是“优化友好”的，防止被随机噪声淹没。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10"/>
            </p:custDataLst>
          </p:nvPr>
        </p:nvSpPr>
        <p:spPr>
          <a:xfrm>
            <a:off x="4318000" y="1651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54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11"/>
            </p:custDataLst>
          </p:nvPr>
        </p:nvSpPr>
        <p:spPr>
          <a:xfrm>
            <a:off x="5334000" y="1968500"/>
            <a:ext cx="1270000" cy="1270000"/>
          </a:xfrm>
          <a:prstGeom prst="ellipse">
            <a:avLst/>
          </a:prstGeom>
          <a:solidFill>
            <a:srgbClr val="000000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88000" y="2222500"/>
            <a:ext cx="762000" cy="7620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4572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挑战：前置Pass“破坏”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6"/>
            </p:custDataLst>
          </p:nvPr>
        </p:nvSpPr>
        <p:spPr>
          <a:xfrm>
            <a:off x="4572000" y="38735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基础优化Pass可能在目标优化运行前，就改变了关键的模式结构。</a:t>
            </a:r>
            <a:endParaRPr lang="en-US" sz="1100"/>
          </a:p>
        </p:txBody>
      </p:sp>
      <p:cxnSp>
        <p:nvCxnSpPr>
          <p:cNvPr id="16" name="Connector 16"/>
          <p:cNvCxnSpPr/>
          <p:nvPr>
            <p:custDataLst>
              <p:tags r:id="rId17"/>
            </p:custDataLst>
          </p:nvPr>
        </p:nvCxnSpPr>
        <p:spPr>
          <a:xfrm rot="-15626">
            <a:off x="4572014" y="46291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>
            <p:custDataLst>
              <p:tags r:id="rId18"/>
            </p:custDataLst>
          </p:nvPr>
        </p:nvSpPr>
        <p:spPr>
          <a:xfrm>
            <a:off x="4572000" y="4762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对策：语义感知属性对齐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将优化所需的关键数值特征设为强约束，防止被基础优化改写。</a:t>
            </a: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9"/>
            </p:custDataLst>
          </p:nvPr>
        </p:nvSpPr>
        <p:spPr>
          <a:xfrm>
            <a:off x="7874000" y="1651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54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20"/>
            </p:custDataLst>
          </p:nvPr>
        </p:nvSpPr>
        <p:spPr>
          <a:xfrm>
            <a:off x="8890000" y="1968500"/>
            <a:ext cx="1270000" cy="1270000"/>
          </a:xfrm>
          <a:prstGeom prst="ellipse">
            <a:avLst/>
          </a:prstGeom>
          <a:solidFill>
            <a:srgbClr val="000000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144000" y="2222500"/>
            <a:ext cx="762000" cy="762000"/>
          </a:xfrm>
          <a:prstGeom prst="rect">
            <a:avLst/>
          </a:prstGeom>
        </p:spPr>
      </p:pic>
      <p:sp>
        <p:nvSpPr>
          <p:cNvPr id="21" name="AutoShape 21"/>
          <p:cNvSpPr/>
          <p:nvPr>
            <p:custDataLst>
              <p:tags r:id="rId24"/>
            </p:custDataLst>
          </p:nvPr>
        </p:nvSpPr>
        <p:spPr>
          <a:xfrm>
            <a:off x="8128000" y="3429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挑战：有效性与触发率博弈</a:t>
            </a:r>
            <a:endParaRPr lang="en-US" sz="1100"/>
          </a:p>
        </p:txBody>
      </p:sp>
      <p:sp>
        <p:nvSpPr>
          <p:cNvPr id="22" name="AutoShape 22"/>
          <p:cNvSpPr/>
          <p:nvPr>
            <p:custDataLst>
              <p:tags r:id="rId25"/>
            </p:custDataLst>
          </p:nvPr>
        </p:nvSpPr>
        <p:spPr>
          <a:xfrm>
            <a:off x="8128000" y="38735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盲目增加多样性往往会导致优化触发率显著下降，测试效率低。</a:t>
            </a:r>
            <a:endParaRPr lang="en-US" sz="1100"/>
          </a:p>
        </p:txBody>
      </p:sp>
      <p:cxnSp>
        <p:nvCxnSpPr>
          <p:cNvPr id="23" name="Connector 23"/>
          <p:cNvCxnSpPr/>
          <p:nvPr>
            <p:custDataLst>
              <p:tags r:id="rId26"/>
            </p:custDataLst>
          </p:nvPr>
        </p:nvCxnSpPr>
        <p:spPr>
          <a:xfrm rot="-15626">
            <a:off x="8128014" y="46291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>
            <p:custDataLst>
              <p:tags r:id="rId27"/>
            </p:custDataLst>
          </p:nvPr>
        </p:nvSpPr>
        <p:spPr>
          <a:xfrm>
            <a:off x="8128000" y="4762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对策：多阶段验证过滤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大规模测试前通过轻量级预检快速剔除无效用例，平衡效率与质量。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0" y="6223000"/>
            <a:ext cx="12192000" cy="635000"/>
          </a:xfrm>
          <a:prstGeom prst="roundRect">
            <a:avLst>
              <a:gd name="adj" fmla="val 0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0" y="6223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核心策略：平衡多样性与有效性，构建稳健的优化环境</a:t>
            </a:r>
            <a:endParaRPr lang="en-US" sz="1100"/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267075" y="1826260"/>
            <a:ext cx="5619750" cy="1028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461000" y="1016000"/>
            <a:ext cx="1270000" cy="1270000"/>
          </a:xfrm>
          <a:prstGeom prst="ellipse">
            <a:avLst/>
          </a:prstGeom>
          <a:solidFill>
            <a:srgbClr val="F7F8FA">
              <a:alpha val="100000"/>
            </a:srgbClr>
          </a:solidFill>
          <a:ln cap="flat" cmpd="sng">
            <a:solidFill>
              <a:srgbClr val="C7D0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0" y="1270000"/>
            <a:ext cx="762000" cy="762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0" y="2540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317373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0" i="0" u="none" strike="noStrike" spc="200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Thank You for Listening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461000" y="5461000"/>
            <a:ext cx="1270000" cy="76200"/>
          </a:xfrm>
          <a:prstGeom prst="roundRect">
            <a:avLst>
              <a:gd name="adj" fmla="val 266666"/>
            </a:avLst>
          </a:prstGeom>
          <a:solidFill>
            <a:srgbClr val="000000">
              <a:alpha val="100000"/>
            </a:srgbClr>
          </a:solidFill>
          <a:ln cap="flat" cmpd="sng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0" y="57785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BBFC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Let's Keep In Touch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4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6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7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8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19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0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1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2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3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4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5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6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7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8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29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30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31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32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ags/tag33.xml><?xml version="1.0" encoding="utf-8"?>
<p:tagLst xmlns:p="http://schemas.openxmlformats.org/presentationml/2006/main">
  <p:tag name="KSO_WM_DIAGRAM_VIRTUALLY_FRAME" val="{&quot;height&quot;:340,&quot;left&quot;:60,&quot;top&quot;:130,&quot;width&quot;:82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WPS 演示</Application>
  <PresentationFormat/>
  <Paragraphs>122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欧睿</cp:lastModifiedBy>
  <cp:revision>1</cp:revision>
  <dcterms:created xsi:type="dcterms:W3CDTF">2026-03-29T11:35:04Z</dcterms:created>
  <dcterms:modified xsi:type="dcterms:W3CDTF">2026-03-29T11:35:04Z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E6B75D7F0B9B47D3B677E4295358BAB5_12</vt:lpwstr>
  </property>
</Properties>
</file>