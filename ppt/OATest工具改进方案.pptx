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大家好，今天我将为大家介绍一份关于OATest工具的改进方案。我们将聚焦于分析其当前的局限性，并提出两种针对性的改进策略，同时探讨这些策略可能面临的挑战及应对方法。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四个部分。首先，我们会快速回顾OATest的核心工作原理。接着，深入分析其存在的两大局限性。然后，详细介绍我们提出的两种改进方案。最后，探讨这些方案在实施过程中可能遇到的挑战及相应的对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这张图概括了OATest的核心工作流程。它首先从官方测试中提取能触发优化的模式，然后将这些模式与多样化的上下文融合，生成新的测试用例，最终通过执行来发现Bug。这个流程是后续所有讨论的基础。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尽管OATest非常有效，但它存在两个核心局限性。首先，它的模式来源单一，完全依赖现有的测试用例，这限制了它的覆盖面。其次，它的插入策略过于保守，为了保证测试的有效性，牺牲了生成图的多样性，可能错过一些深层Bug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方案是引入大语言模型。我们不再仅仅依赖于提取现有模式，而是让LLM像一个聪明的助手一样，基于已有知识创造出大量全新的、多样化的模式。更重要的是，我们建立一个反馈循环，让LLM不断学习那些能发现新Bug的成功模式，从而实现智能、高效的测试生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引入LLM也带来了挑战，最主要的就是LLM可能产生“幻觉”，生成无效的代码。对此，我们的对策是：首先，让LLM在合法模式的基础上进行修改，而不是凭空创造；其次，在生成后增加一个轻量级的校验步骤，快速过滤掉无效的测试用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方案是借鉴约束求解技术。我们不再是“先生成种子图，再硬塞模式”，而是把模式当作一个核心约束，让求解器围绕它动态生成完全合法且高度多样化的上下文环境。这种方法能极大地提升生成图的多样性和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约束求解方案同样面临挑战。例如，随机生成的上下文可能“稀释”模式的特征，或者前置的优化会破坏模式结构。对此，我们提出了建立“优化保护区”、进行“语义感知的属性对齐”以及采用“多阶段验证过滤”等对策，来平衡多样性和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总结一下，OATest是一项非常出色的技术，但它仍有提升空间。我们提出的基于LLM和约束求解的改进方案，旨在突破其现有瓶颈，构建一个更智能、更高效的测试框架，从而更好地保障AI软件的质量。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.xml" Type="http://schemas.openxmlformats.org/officeDocument/2006/relationships/notes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notesSlides/notesSlide10.xml" Type="http://schemas.openxmlformats.org/officeDocument/2006/relationships/notesSlide"/><Relationship Id="rId5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OATest工具改进方案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0795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Optimization-Aware Test Generation: From Limitation Analysis to Strategy Upgrade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048000" cy="4064000"/>
          </a:xfrm>
          <a:prstGeom prst="roundRect">
            <a:avLst>
              <a:gd name="adj" fmla="val 4166"/>
            </a:avLst>
          </a:prstGeom>
          <a:solidFill>
            <a:srgbClr val="F9F9F9">
              <a:alpha val="100000"/>
            </a:srgbClr>
          </a:solidFill>
          <a:ln cmpd="sng" cap="flat">
            <a:solidFill>
              <a:srgbClr val="E0C9C9">
                <a:alpha val="10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97000" y="2413000"/>
            <a:ext cx="1778000" cy="177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952500" y="44450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智能测试 · 精准优化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突破传统生成局限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重构测试质量闭环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191000" y="1778000"/>
            <a:ext cx="7239000" cy="1206500"/>
          </a:xfrm>
          <a:prstGeom prst="roundRect">
            <a:avLst>
              <a:gd name="adj" fmla="val 8421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08500" y="2095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334000" y="1905000"/>
            <a:ext cx="584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01. 现状深度诊断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剖析现有生成机制在复杂路径覆盖上的瓶颈，定位因缺乏优化感知导致的冗余与漏测痛点。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191000" y="3175000"/>
            <a:ext cx="7239000" cy="1206500"/>
          </a:xfrm>
          <a:prstGeom prst="roundRect">
            <a:avLst>
              <a:gd name="adj" fmla="val 8421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08500" y="3492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334000" y="3302000"/>
            <a:ext cx="584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02. 改进策略升级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引入“启发式搜索+符号执行”双引擎驱动，结合代码热点分析，提升测试用例的有效性与生成效率。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91000" y="4572000"/>
            <a:ext cx="7239000" cy="1206500"/>
          </a:xfrm>
          <a:prstGeom prst="roundRect">
            <a:avLst>
              <a:gd name="adj" fmla="val 8421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08500" y="4889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334000" y="4699000"/>
            <a:ext cx="584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03. 挑战与应对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针对路径爆炸风险建立剪枝机制，在保证覆盖率的同时，通过动态阈值平衡生成时间与资源消耗。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71600" y="2286000"/>
            <a:ext cx="1320800" cy="13208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25600" y="2540000"/>
            <a:ext cx="812800" cy="812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762000" y="381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OATest原理概览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4826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核心工作流程解析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67100" y="1905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76700" y="2286000"/>
            <a:ext cx="1320800" cy="13208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30700" y="2540000"/>
            <a:ext cx="812800" cy="812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467100" y="381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671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局限性分析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57600" y="4826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模式来源与插入策略局限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72200" y="1905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81800" y="2286000"/>
            <a:ext cx="1320800" cy="13208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035800" y="2540000"/>
            <a:ext cx="812800" cy="812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172200" y="381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722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62700" y="4826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LLM生成与约束求解深度融合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77300" y="1905000"/>
            <a:ext cx="2540000" cy="3683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486900" y="2286000"/>
            <a:ext cx="1320800" cy="13208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740900" y="2540000"/>
            <a:ext cx="812800" cy="812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77300" y="3810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77300" y="431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挑战与对策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067800" y="4826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方案实施问题与解决思路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0" y="6324600"/>
            <a:ext cx="1219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OATest 技术分享 · 2026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OATest核心原理概览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OATest 通过“模式提取”和“计算图合成”两大核心步骤，将官方测试用例转化为多样化的新测试集，精准测试深度学习编译器的优化逻辑，高效发现潜在缺陷。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219" r="1219" t="2302" b="2302"/>
          <a:stretch>
            <a:fillRect/>
          </a:stretch>
        </p:blipFill>
        <p:spPr>
          <a:xfrm rot="0" flipH="false" flipV="false">
            <a:off x="1016000" y="2413000"/>
            <a:ext cx="10160000" cy="3683000"/>
          </a:xfrm>
          <a:prstGeom prst="roundRect">
            <a:avLst>
              <a:gd name="adj" fmla="val 3448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63500" blurRad="190500" algn="tl" rotWithShape="false">
              <a:srgbClr val="000000">
                <a:alpha val="1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6223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图示：OATest 全链路工作流程（输入 -&gt; 模式提取 -&gt; 图合成 -&gt; 测试执行）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4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OATest的两大核心局限性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762040" y="1327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rnd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641600" y="2159000"/>
            <a:ext cx="1066800" cy="1066800"/>
          </a:xfrm>
          <a:prstGeom prst="ellipse">
            <a:avLst/>
          </a:prstGeom>
          <a:solidFill>
            <a:srgbClr val="0000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794000" y="2311400"/>
            <a:ext cx="762000" cy="762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 模式来源：依赖文档化测试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0110" flipH="false" flipV="false">
            <a:off x="1143009" y="3994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4191000"/>
            <a:ext cx="457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模式完全依赖开发者编写的测试用例，数量有限且易受主观限制。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覆盖不足“长尾”场景，且模式库需要持续的人工维护与更新。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778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5400000" dist="1016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29600" y="2159000"/>
            <a:ext cx="1066800" cy="1066800"/>
          </a:xfrm>
          <a:prstGeom prst="ellipse">
            <a:avLst/>
          </a:prstGeom>
          <a:solidFill>
            <a:srgbClr val="0000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23114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604000" y="34290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 插入策略：强约束匹配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0110" flipH="false" flipV="false">
            <a:off x="6731009" y="3994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4191000"/>
            <a:ext cx="457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倾向寻找高度兼容的锚点，为保证有效性牺牲了生成图的多样性。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导致结构僵化，上下文耦合度低，搜索空间被人为窄化，易漏检。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0" y="6502400"/>
            <a:ext cx="1219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核心痛点：依赖人工输入与保守策略限制了自动化挖掘的潜力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改进方案一：LLM模式生成 + 正反馈循环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核心思想：从“提取”到“创造”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159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不再局限于现有模式的提取，而是利用大语言模型（LLM）的推理能力，基于已知模式进行变异与创造，生成海量高价值的“变体模式”。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175000"/>
            <a:ext cx="10668000" cy="1206500"/>
          </a:xfrm>
          <a:prstGeom prst="roundRect">
            <a:avLst>
              <a:gd name="adj" fmla="val 10526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34671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3327400"/>
            <a:ext cx="889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突破数量瓶颈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从根本上解决模式样本不足问题，生成无限多样化的测试用例。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572000"/>
            <a:ext cx="10668000" cy="1206500"/>
          </a:xfrm>
          <a:prstGeom prst="roundRect">
            <a:avLst>
              <a:gd name="adj" fmla="val 10526"/>
            </a:avLst>
          </a:prstGeom>
          <a:solidFill>
            <a:srgbClr val="F9F9F9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48641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032000" y="4724400"/>
            <a:ext cx="889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智能探索闭环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建立正反馈机制，让模型持续学习成功发现Bug的策略，实现测试的自我进化。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核心价值：以AI智能驱动测试效率指数级提升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0" y="698500"/>
            <a:ext cx="1524000" cy="381000"/>
          </a:xfrm>
          <a:prstGeom prst="roundRect">
            <a:avLst>
              <a:gd name="adj" fmla="val 166666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方案核心亮点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方案一：挑战与对策 —— 应对LLM“幻觉”的核心策略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159000"/>
            <a:ext cx="1016000" cy="1016000"/>
          </a:xfrm>
          <a:prstGeom prst="ellipse">
            <a:avLst/>
          </a:prstGeom>
          <a:solidFill>
            <a:srgbClr val="0000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73200" y="23622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34290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核心挑战：LLM生成“幻觉”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064000"/>
            <a:ext cx="406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LLM可能生成逻辑无效、不符合语法规范的计算图，导致测试失败或系统异常，这是自动化生成过程中最大的不确定性风险。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588000"/>
            <a:ext cx="5080000" cy="762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032000"/>
            <a:ext cx="812800" cy="812800"/>
          </a:xfrm>
          <a:prstGeom prst="ellipse">
            <a:avLst/>
          </a:prstGeom>
          <a:solidFill>
            <a:srgbClr val="0000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56400" y="21844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620000" y="2032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对策一：基于合法模式修改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0" y="25400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让LLM在预设的合法计算图模式基础上进行增量修改，而非凭空创造，从源头降低幻觉概率。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937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4318000"/>
            <a:ext cx="812800" cy="812800"/>
          </a:xfrm>
          <a:prstGeom prst="ellipse">
            <a:avLst/>
          </a:prstGeom>
          <a:solidFill>
            <a:srgbClr val="00000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56400" y="44704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620000" y="4318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对策二：轻量级生成后校验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0" y="48260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在生成流程末端增加快速语法检查器与类型校验器，实时过滤掉明显无效的测试用例，确保输入质量。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6096000"/>
            <a:ext cx="520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0000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策略核心：控制生成范围 + 后置质量拦截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改进方案二：基于约束求解的深度融合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核心思想：动态生成上下文环境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将模式本身作为一组固定的核心约束，直接交给 NNSmith 的约束求解引擎。让求解器围绕该模式，从无到有地动态生成完全合法的上下游上下文。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302000"/>
            <a:ext cx="10668000" cy="1206500"/>
          </a:xfrm>
          <a:prstGeom prst="roundRect">
            <a:avLst>
              <a:gd name="adj" fmla="val 10526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35941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3429000"/>
            <a:ext cx="863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保证模式必然存在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模式作为核心约束，被强制保留在最终生成的计算图中，避免被优化消除。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699000"/>
            <a:ext cx="10668000" cy="1206500"/>
          </a:xfrm>
          <a:prstGeom prst="roundRect">
            <a:avLst>
              <a:gd name="adj" fmla="val 10526"/>
            </a:avLst>
          </a:prstGeom>
          <a:solidFill>
            <a:srgbClr val="F8F8F8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49911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032000" y="4826000"/>
            <a:ext cx="863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极致的多样性与有效性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生成千奇百怪但100%合法的上下文，无需人工插入桥接算子，覆盖更多边界场景。</a:t>
            </a:r>
          </a:p>
        </p:txBody>
      </p:sp>
      <p:cxnSp>
        <p:nvCxnSpPr>
          <p:cNvPr name="Connector 11" id="11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方案二：挑战与对策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9F9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778000" y="1968500"/>
            <a:ext cx="1270000" cy="1270000"/>
          </a:xfrm>
          <a:prstGeom prst="ellipse">
            <a:avLst/>
          </a:prstGeom>
          <a:solidFill>
            <a:srgbClr val="000000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32000" y="2222500"/>
            <a:ext cx="762000" cy="762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挑战：优化特征“稀释”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873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随机上下文可能掩盖模式结构，导致优化无法被有效触发。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626" flipH="false" flipV="false">
            <a:off x="1016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476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对策：建立“优化保护区”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确保模式的直接前后继算子是“优化友好”的，防止被随机噪声淹没。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9F9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1968500"/>
            <a:ext cx="1270000" cy="1270000"/>
          </a:xfrm>
          <a:prstGeom prst="ellipse">
            <a:avLst/>
          </a:prstGeom>
          <a:solidFill>
            <a:srgbClr val="000000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88000" y="2222500"/>
            <a:ext cx="762000" cy="762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572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挑战：前置Pass“破坏”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873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基础优化Pass可能在目标优化运行前，就改变了关键的模式结构。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4572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476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对策：语义感知属性对齐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将优化所需的关键数值特征设为强约束，防止被基础优化改写。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74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9F9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0" y="1968500"/>
            <a:ext cx="1270000" cy="1270000"/>
          </a:xfrm>
          <a:prstGeom prst="ellipse">
            <a:avLst/>
          </a:prstGeom>
          <a:solidFill>
            <a:srgbClr val="000000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0" y="2222500"/>
            <a:ext cx="762000" cy="762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128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挑战：有效性与触发率博弈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3873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盲目增加多样性往往会导致优化触发率显著下降，测试效率低。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5626" flipH="false" flipV="false">
            <a:off x="8128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128000" y="476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对策：多阶段验证过滤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大规模测试前通过轻量级预检快速剔除无效用例，平衡效率与质量。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0" y="6223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核心策略：平衡多样性与有效性，构建稳健的优化环境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OATest：迈向智能编译器测试的新范式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556000" cy="4318000"/>
          </a:xfrm>
          <a:prstGeom prst="roundRect">
            <a:avLst>
              <a:gd name="adj" fmla="val 5357"/>
            </a:avLst>
          </a:prstGeom>
          <a:solidFill>
            <a:srgbClr val="1A1A1A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27000" blurRad="254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841500" y="2286000"/>
            <a:ext cx="1397000" cy="1397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突破模式来源局限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构建更智能的AI保障体系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699000" y="1651000"/>
            <a:ext cx="6731000" cy="1270000"/>
          </a:xfrm>
          <a:prstGeom prst="roundRect">
            <a:avLst>
              <a:gd name="adj" fmla="val 10000"/>
            </a:avLst>
          </a:prstGeom>
          <a:solidFill>
            <a:srgbClr val="F9F9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1968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715000" y="1841500"/>
            <a:ext cx="546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现状与局限：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OATest的“优化感知”思想极具价值，但模式来源与生成多样性仍有提升空间。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3175000"/>
            <a:ext cx="3238500" cy="1651000"/>
          </a:xfrm>
          <a:prstGeom prst="roundRect">
            <a:avLst>
              <a:gd name="adj" fmla="val 7692"/>
            </a:avLst>
          </a:prstGeom>
          <a:solidFill>
            <a:srgbClr val="F9F9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953000" y="3492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715000" y="3365500"/>
            <a:ext cx="2095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智能模式生成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引入LLM大模型，突破人工编写模式的局限，自动生成多样化测试模式。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3175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9F9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82000" y="3492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144000" y="3365500"/>
            <a:ext cx="215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深度上下文融合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利用约束求解技术，精准融合上下文信息，提升测试的有效性与覆盖率。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5080000"/>
            <a:ext cx="6731000" cy="889000"/>
          </a:xfrm>
          <a:prstGeom prst="roundRect">
            <a:avLst>
              <a:gd name="adj" fmla="val 14285"/>
            </a:avLst>
          </a:prstGeom>
          <a:solidFill>
            <a:srgbClr val="1F232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5080000"/>
            <a:ext cx="673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愿景：构建下一代智能测试框架，高效保障AI软件正确性与稳定性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461000" y="1016000"/>
            <a:ext cx="1270000" cy="1270000"/>
          </a:xfrm>
          <a:prstGeom prst="ellipse">
            <a:avLst/>
          </a:prstGeom>
          <a:solidFill>
            <a:srgbClr val="F7F8FA">
              <a:alpha val="100000"/>
            </a:srgbClr>
          </a:solidFill>
          <a:ln cmpd="sng" cap="flat">
            <a:solidFill>
              <a:srgbClr val="C7D0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0" y="1270000"/>
            <a:ext cx="762000" cy="762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0" y="2540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683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3200" spc="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Listening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44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感谢大家的时间，欢迎随时提问与交流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461000" y="5461000"/>
            <a:ext cx="1270000" cy="76200"/>
          </a:xfrm>
          <a:prstGeom prst="roundRect">
            <a:avLst>
              <a:gd name="adj" fmla="val 266666"/>
            </a:avLst>
          </a:prstGeom>
          <a:solidFill>
            <a:srgbClr val="000000">
              <a:alpha val="100000"/>
            </a:srgbClr>
          </a:solidFill>
          <a:ln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5778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BBFC4"/>
                </a:solidFill>
                <a:latin typeface="Noto Sans SC"/>
                <a:ea typeface="Noto Sans SC"/>
                <a:cs typeface="Noto Sans SC"/>
                <a:sym typeface="Noto Sans SC"/>
              </a:rPr>
              <a:t>Let's Keep In Touch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