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embeddedFontLst>
    <p:embeddedFont>
      <p:font typeface="MiSans" panose="00000500000000000000" pitchFamily="34" charset="-122"/>
      <p:regular r:id="rId21"/>
    </p:embeddedFont>
    <p:embeddedFont>
      <p:font typeface="MiSans" panose="00000500000000000000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  <p:embeddedFont>
      <p:font typeface="等线" panose="02010600030101010101" charset="-122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hyperlink" Target="https://news.qq.com/rain/a/20231221A063Q600" TargetMode="Externa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hyperlink" Target="https://news.cctv.com/2020/08/13/ARTIgNCGR5eVV6HhDG2BlSnV200813.shtml" TargetMode="Externa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hyperlink" Target="https://finance.sina.com.cn/roll/2024-03-18/doc-inanteru5682113.shtml" TargetMode="External"/><Relationship Id="rId2" Type="http://schemas.openxmlformats.org/officeDocument/2006/relationships/tags" Target="../tags/tag7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hyperlink" Target="https://www.365master.com/show-27-13983-1.html" TargetMode="External"/><Relationship Id="rId2" Type="http://schemas.openxmlformats.org/officeDocument/2006/relationships/image" Target="../media/image14.jpe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08-d3ka6v0s8jdo4os5eb20.png"/>
          <p:cNvPicPr>
            <a:picLocks noChangeAspect="1"/>
          </p:cNvPicPr>
          <p:nvPr/>
        </p:nvPicPr>
        <p:blipFill>
          <a:blip r:embed="rId2"/>
          <a:srcRect l="3301" t="2679" r="3223" b="7638"/>
          <a:stretch>
            <a:fillRect/>
          </a:stretch>
        </p:blipFill>
        <p:spPr>
          <a:xfrm>
            <a:off x="0" y="0"/>
            <a:ext cx="12192635" cy="6844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24940" y="1981200"/>
            <a:ext cx="9343390" cy="2283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AI供应链：新战场与新规则</a:t>
            </a:r>
            <a:endParaRPr lang="en-US" sz="1600" dirty="0"/>
          </a:p>
        </p:txBody>
      </p:sp>
      <p:pic>
        <p:nvPicPr>
          <p:cNvPr id="7" name="Image 2" descr="https://kimi-img.moonshot.cn/pub/slides/slides_tmpl/image/25-10-10-14:11:05-d3ka6u8s8jdo4os5eb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90" y="4185920"/>
            <a:ext cx="1197610" cy="1175385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10-10-14:11:05-d3ka6u8s8jdo4os5eb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525" y="3649980"/>
            <a:ext cx="835660" cy="819785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10-10-14:11:05-d3ka6u8s8jdo4os5eb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735" y="575310"/>
            <a:ext cx="556260" cy="546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13-d3ka708s8jdo4os5eb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0960" y="0"/>
            <a:ext cx="121716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76520" y="1210945"/>
            <a:ext cx="2138680" cy="6397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 录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0-14:11:05-d3ka6u8s8jdo4os5eb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83" y="2514283"/>
            <a:ext cx="819150" cy="8045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33240" y="682625"/>
            <a:ext cx="3825240" cy="7086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kern="0" spc="3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10-10-14:11:05-d3ka6u8s8jdo4os5eb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820" y="2514283"/>
            <a:ext cx="819150" cy="80454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10-10-14:11:05-d3ka6u8s8jdo4os5eb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778250"/>
            <a:ext cx="819150" cy="804545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154430" y="2701290"/>
            <a:ext cx="490855" cy="4526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1786573" y="2429510"/>
            <a:ext cx="4511040" cy="8051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80000"/>
              </a:lnSpc>
            </a:pPr>
            <a:r>
              <a:rPr lang="en-US" sz="2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供应链再进化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6597968" y="2701290"/>
            <a:ext cx="490855" cy="4526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7238048" y="2429510"/>
            <a:ext cx="4511040" cy="7029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80000"/>
              </a:lnSpc>
            </a:pPr>
            <a:r>
              <a:rPr lang="en-US" sz="2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新型风险全景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1777048" y="3646170"/>
            <a:ext cx="4511040" cy="7029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80000"/>
              </a:lnSpc>
            </a:pP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1154113" y="3982403"/>
            <a:ext cx="49085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1809750" y="3893185"/>
            <a:ext cx="4511040" cy="5441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治理框架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24-d3ka730s8jdo4os5eb90.jpg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20320" y="0"/>
            <a:ext cx="121716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89075" y="3167380"/>
            <a:ext cx="947547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供应链再进化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814570" y="1733550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3"/>
          <a:srcRect l="540" r="540"/>
          <a:stretch>
            <a:fillRect/>
          </a:stretch>
        </p:blipFill>
        <p:spPr>
          <a:xfrm>
            <a:off x="923290" y="4185920"/>
            <a:ext cx="1197610" cy="117538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3"/>
          <a:srcRect l="503" r="503"/>
          <a:stretch>
            <a:fillRect/>
          </a:stretch>
        </p:blipFill>
        <p:spPr>
          <a:xfrm>
            <a:off x="10042525" y="3649980"/>
            <a:ext cx="835660" cy="81978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3"/>
          <a:srcRect l="581" r="581"/>
          <a:stretch>
            <a:fillRect/>
          </a:stretch>
        </p:blipFill>
        <p:spPr>
          <a:xfrm>
            <a:off x="3645535" y="692150"/>
            <a:ext cx="849630" cy="8343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715" y="-78105"/>
            <a:ext cx="3992880" cy="387985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" y="2846070"/>
            <a:ext cx="3992880" cy="38798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82930" y="509270"/>
            <a:ext cx="11609070" cy="5928995"/>
          </a:xfrm>
          <a:prstGeom prst="rect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5" name="Text 1"/>
          <p:cNvSpPr/>
          <p:nvPr/>
        </p:nvSpPr>
        <p:spPr>
          <a:xfrm>
            <a:off x="582930" y="509270"/>
            <a:ext cx="11609070" cy="59289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82675" y="809625"/>
            <a:ext cx="5194300" cy="51494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代码中心让位数据模型中心</a:t>
            </a:r>
            <a:endParaRPr lang="en-US" sz="1600" dirty="0"/>
          </a:p>
        </p:txBody>
      </p:sp>
      <p:sp>
        <p:nvSpPr>
          <p:cNvPr id="7" name="Text 3"/>
          <p:cNvSpPr/>
          <p:nvPr>
            <p:custDataLst>
              <p:tags r:id="rId3"/>
            </p:custDataLst>
          </p:nvPr>
        </p:nvSpPr>
        <p:spPr>
          <a:xfrm>
            <a:off x="1095375" y="1609090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传统供应链核心</a:t>
            </a:r>
            <a:endParaRPr lang="en-US" sz="1600" dirty="0"/>
          </a:p>
        </p:txBody>
      </p:sp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1095375" y="2604770"/>
            <a:ext cx="3152140" cy="1560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传统软件供应链以代码组件为中心，依赖开源库、框架及其版本管理，核心资产是源代码与可执行文件。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5"/>
            </p:custDataLst>
          </p:nvPr>
        </p:nvSpPr>
        <p:spPr>
          <a:xfrm>
            <a:off x="4648200" y="1613218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AI供应链新核心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6"/>
            </p:custDataLst>
          </p:nvPr>
        </p:nvSpPr>
        <p:spPr>
          <a:xfrm>
            <a:off x="4648200" y="2606040"/>
            <a:ext cx="3152140" cy="1560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AI时代，训练数据、预训练模型、超参配置成为关键交付物，资产形态从静态代码扩展到动态数据集。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8255000" y="1613218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供应链起点变化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8"/>
            </p:custDataLst>
          </p:nvPr>
        </p:nvSpPr>
        <p:spPr>
          <a:xfrm>
            <a:off x="8255000" y="2611755"/>
            <a:ext cx="3152140" cy="11701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供应链起点从代码仓库前移到数据采集端，整体链路更长、更脆弱，也更具价值。</a:t>
            </a:r>
            <a:endParaRPr lang="en-US" sz="1600" dirty="0"/>
          </a:p>
        </p:txBody>
      </p:sp>
      <p:pic>
        <p:nvPicPr>
          <p:cNvPr id="14" name="图片 13" descr="4578438e06c49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2320" y="809625"/>
            <a:ext cx="2807335" cy="5559425"/>
          </a:xfrm>
          <a:prstGeom prst="rect">
            <a:avLst/>
          </a:prstGeom>
        </p:spPr>
      </p:pic>
      <p:pic>
        <p:nvPicPr>
          <p:cNvPr id="15" name="图片 14" descr="a99cd6f713e4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4470" y="1028700"/>
            <a:ext cx="4532630" cy="500316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19-d3ka71os8jdo4os5eb7g.jpeg"/>
          <p:cNvPicPr>
            <a:picLocks noChangeAspect="1"/>
          </p:cNvPicPr>
          <p:nvPr/>
        </p:nvPicPr>
        <p:blipFill>
          <a:blip r:embed="rId2">
            <a:alphaModFix amt="84000"/>
          </a:blip>
          <a:srcRect t="31864" b="31864"/>
          <a:stretch>
            <a:fillRect/>
          </a:stretch>
        </p:blipFill>
        <p:spPr>
          <a:xfrm>
            <a:off x="0" y="3932555"/>
            <a:ext cx="12191365" cy="296227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0-14:11:16-d3ka710s8jdo4os5eb70.jpeg"/>
          <p:cNvPicPr>
            <a:picLocks noChangeAspect="1"/>
          </p:cNvPicPr>
          <p:nvPr/>
        </p:nvPicPr>
        <p:blipFill>
          <a:blip r:embed="rId3">
            <a:alphaModFix amt="69000"/>
          </a:blip>
          <a:srcRect t="20956" b="20956"/>
          <a:stretch>
            <a:fillRect/>
          </a:stretch>
        </p:blipFill>
        <p:spPr>
          <a:xfrm>
            <a:off x="-635" y="3932555"/>
            <a:ext cx="12192000" cy="29622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8030" y="493395"/>
            <a:ext cx="5450205" cy="71318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8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AIBOM取代SBOM成为硬通货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8847455" y="3932555"/>
            <a:ext cx="2840990" cy="32291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99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60730" y="2007235"/>
            <a:ext cx="10372090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AIBOM与SBOM的区别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60730" y="2418080"/>
            <a:ext cx="10371455" cy="878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altLang="zh-CN" sz="1600" dirty="0"/>
              <a:t>SBOM </a:t>
            </a:r>
            <a:r>
              <a:rPr lang="zh-CN" altLang="en-US" sz="1600" dirty="0"/>
              <a:t>负责管理其软件成分（例如使用的</a:t>
            </a:r>
            <a:r>
              <a:rPr lang="en-US" altLang="zh-CN" sz="1600" dirty="0"/>
              <a:t>Python</a:t>
            </a:r>
            <a:r>
              <a:rPr lang="zh-CN" altLang="en-US" sz="1600" dirty="0"/>
              <a:t>环境、</a:t>
            </a:r>
            <a:r>
              <a:rPr lang="en-US" altLang="zh-CN" sz="1600" dirty="0"/>
              <a:t>TensorFlow</a:t>
            </a:r>
            <a:r>
              <a:rPr lang="zh-CN" altLang="en-US" sz="1600" dirty="0"/>
              <a:t>框架），而</a:t>
            </a:r>
            <a:r>
              <a:rPr lang="en-US" altLang="zh-CN" sz="1600" dirty="0"/>
              <a:t> AIBOM </a:t>
            </a:r>
            <a:r>
              <a:rPr lang="zh-CN" altLang="en-US" sz="1600" dirty="0"/>
              <a:t>则专门管理其</a:t>
            </a:r>
            <a:r>
              <a:rPr lang="en-US" altLang="zh-CN" sz="1600" dirty="0"/>
              <a:t>AI</a:t>
            </a:r>
            <a:r>
              <a:rPr lang="zh-CN" altLang="en-US" sz="1600" dirty="0"/>
              <a:t>成分（例如训练数据来源、模型版本和参数）。</a:t>
            </a:r>
            <a:endParaRPr lang="zh-CN" altLang="en-US" sz="1600" dirty="0"/>
          </a:p>
        </p:txBody>
      </p:sp>
      <p:sp>
        <p:nvSpPr>
          <p:cNvPr id="8" name="文本框 7"/>
          <p:cNvSpPr txBox="1"/>
          <p:nvPr/>
        </p:nvSpPr>
        <p:spPr>
          <a:xfrm>
            <a:off x="760730" y="1144270"/>
            <a:ext cx="10372090" cy="775970"/>
          </a:xfrm>
          <a:prstGeom prst="rect">
            <a:avLst/>
          </a:prstGeom>
        </p:spPr>
        <p:txBody>
          <a:bodyPr wrap="square">
            <a:noAutofit/>
          </a:bodyPr>
          <a:p>
            <a:pPr marL="0" algn="just">
              <a:lnSpc>
                <a:spcPct val="160000"/>
              </a:lnSpc>
              <a:buClrTx/>
              <a:buSzTx/>
              <a:buFontTx/>
            </a:pPr>
            <a:r>
              <a:rPr lang="en-US" altLang="zh-CN" sz="1400" b="0" i="0" dirty="0"/>
              <a:t>它是一份详细的清单，记录了构建和运行一个AI系统所涉及的所有组成部分。这不仅包括传统的软件代码和库，更重要的是，它还专门追踪了AI特有的核心元素，例如用来训练模型的数据（来源、版本等）、模型本身的架构和版本，以及所使用的训练框架和工具​ 。</a:t>
            </a:r>
            <a:endParaRPr lang="en-US" altLang="zh-CN" sz="1400" b="0" i="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24-d3ka730s8jdo4os5eb90.jpg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20320" y="0"/>
            <a:ext cx="121716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89075" y="3167380"/>
            <a:ext cx="947547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新型风险全景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814570" y="1733550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3"/>
          <a:srcRect l="540" r="540"/>
          <a:stretch>
            <a:fillRect/>
          </a:stretch>
        </p:blipFill>
        <p:spPr>
          <a:xfrm>
            <a:off x="923290" y="4185920"/>
            <a:ext cx="1197610" cy="117538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3"/>
          <a:srcRect l="503" r="503"/>
          <a:stretch>
            <a:fillRect/>
          </a:stretch>
        </p:blipFill>
        <p:spPr>
          <a:xfrm>
            <a:off x="10042525" y="3649980"/>
            <a:ext cx="835660" cy="81978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3"/>
          <a:srcRect l="581" r="581"/>
          <a:stretch>
            <a:fillRect/>
          </a:stretch>
        </p:blipFill>
        <p:spPr>
          <a:xfrm>
            <a:off x="3645535" y="692150"/>
            <a:ext cx="849630" cy="8343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930" y="0"/>
            <a:ext cx="11609070" cy="6626225"/>
          </a:xfrm>
          <a:prstGeom prst="rect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82930" y="0"/>
            <a:ext cx="11609070" cy="662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582930" y="3777615"/>
            <a:ext cx="2741930" cy="2663825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20000">
            <a:off x="9217660" y="372745"/>
            <a:ext cx="2741930" cy="23996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90650" y="812165"/>
            <a:ext cx="6907530" cy="51494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hlinkClick r:id="rId3" action="ppaction://hlinkfile"/>
              </a:rPr>
              <a:t>数据投毒</a:t>
            </a: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：低成本高破坏的入口</a:t>
            </a:r>
            <a:endParaRPr lang="en-US" sz="1600" dirty="0"/>
          </a:p>
        </p:txBody>
      </p:sp>
      <p:pic>
        <p:nvPicPr>
          <p:cNvPr id="7" name="Image 2" descr="https://kimi-img.moonshot.cn/pub/slides/slides_tmpl/image/25-10-10-14:11:05-d3ka6u8s8jdo4os5eb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410" y="2115820"/>
            <a:ext cx="4114165" cy="65659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10-10-14:11:05-d3ka6u8s8jdo4os5eb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0" y="2142490"/>
            <a:ext cx="4114165" cy="65659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614170" y="2112645"/>
            <a:ext cx="382968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数据投毒的定义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1490980" y="2799080"/>
            <a:ext cx="4124960" cy="1560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攻击者向公开数据集、众包标注平台或用户反馈通道植入恶意样本，模型训练后行为被定向扭曲，表现为错误分类、后门触发或合规违规。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6906260" y="2139315"/>
            <a:ext cx="382968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数据投毒的特点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783070" y="2825750"/>
            <a:ext cx="4124960" cy="11701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投毒数据与正常数据分布差异微小，传统清洗规则难以识别，且可远程批量完成，检测修复周期长。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20" y="379730"/>
            <a:ext cx="6604635" cy="51494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模型窃取与对抗样本双杀</a:t>
            </a:r>
            <a:endParaRPr lang="en-US" sz="1600" dirty="0"/>
          </a:p>
        </p:txBody>
      </p:sp>
      <p:sp>
        <p:nvSpPr>
          <p:cNvPr id="4" name="Text 1"/>
          <p:cNvSpPr/>
          <p:nvPr>
            <p:custDataLst>
              <p:tags r:id="rId2"/>
            </p:custDataLst>
          </p:nvPr>
        </p:nvSpPr>
        <p:spPr>
          <a:xfrm>
            <a:off x="757555" y="1075690"/>
            <a:ext cx="5176520" cy="32900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hlinkClick r:id="rId3" action="ppaction://hlinkfile"/>
              </a:rPr>
              <a:t>模型窃取</a:t>
            </a:r>
            <a:endParaRPr lang="en-US" sz="1600" dirty="0"/>
          </a:p>
        </p:txBody>
      </p:sp>
      <p:sp>
        <p:nvSpPr>
          <p:cNvPr id="5" name="Text 2"/>
          <p:cNvSpPr/>
          <p:nvPr>
            <p:custDataLst>
              <p:tags r:id="rId4"/>
            </p:custDataLst>
          </p:nvPr>
        </p:nvSpPr>
        <p:spPr>
          <a:xfrm>
            <a:off x="759460" y="1452245"/>
            <a:ext cx="5313680" cy="5970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黑盒查询接口允许外部用户无限次调用，攻击者通过输出置信度与梯度近似逆向还原模型功能。</a:t>
            </a:r>
            <a:endParaRPr lang="en-US" sz="1600" dirty="0"/>
          </a:p>
        </p:txBody>
      </p:sp>
      <p:sp>
        <p:nvSpPr>
          <p:cNvPr id="6" name="Text 3"/>
          <p:cNvSpPr/>
          <p:nvPr>
            <p:custDataLst>
              <p:tags r:id="rId5"/>
            </p:custDataLst>
          </p:nvPr>
        </p:nvSpPr>
        <p:spPr>
          <a:xfrm>
            <a:off x="744220" y="2902585"/>
            <a:ext cx="5176520" cy="32900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hlinkClick r:id="rId6" action="ppaction://hlinkfile"/>
              </a:rPr>
              <a:t>对抗样本</a:t>
            </a: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744220" y="3291840"/>
            <a:ext cx="5328285" cy="5970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攻击者以对抗扰动误导原模型决策，造成自动驾驶、金融风控等场景误判。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8"/>
            </p:custDataLst>
          </p:nvPr>
        </p:nvSpPr>
        <p:spPr>
          <a:xfrm>
            <a:off x="744220" y="4780280"/>
            <a:ext cx="5176520" cy="32900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影响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9"/>
            </p:custDataLst>
          </p:nvPr>
        </p:nvSpPr>
        <p:spPr>
          <a:xfrm>
            <a:off x="751840" y="5169535"/>
            <a:ext cx="5321300" cy="5970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商业模型被低成本复制导致贬值，线上推理服务面临可用性与准确性双重打击。</a:t>
            </a:r>
            <a:endParaRPr lang="en-US" sz="16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0030" y="525145"/>
            <a:ext cx="5045075" cy="2451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0030" y="3291840"/>
            <a:ext cx="5044440" cy="3411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660" y="3957320"/>
            <a:ext cx="2741930" cy="266382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035" y="638175"/>
            <a:ext cx="1664335" cy="16167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0420" y="1205230"/>
            <a:ext cx="5682615" cy="71318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8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AI生成代码暗藏幻觉依赖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837565" y="2441575"/>
            <a:ext cx="5683250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幻觉依赖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837565" y="3347085"/>
            <a:ext cx="4963795" cy="11701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GitHub Copilot等工具基于公开代码训练，可能输出不存在或带漏洞的第三方库，开发者盲目采纳后引入风险。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31-d3ka74os8jdo4os5ebc0.jpeg"/>
          <p:cNvPicPr>
            <a:picLocks noChangeAspect="1"/>
          </p:cNvPicPr>
          <p:nvPr/>
        </p:nvPicPr>
        <p:blipFill>
          <a:blip r:embed="rId2"/>
          <a:srcRect t="21065" b="54913"/>
          <a:stretch>
            <a:fillRect/>
          </a:stretch>
        </p:blipFill>
        <p:spPr>
          <a:xfrm>
            <a:off x="-4445" y="-75565"/>
            <a:ext cx="12196445" cy="18072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16095" y="751840"/>
            <a:ext cx="5325745" cy="47545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hlinkClick r:id="rId3" action="ppaction://hlinkfile"/>
              </a:rPr>
              <a:t>Hugging Face模型泄露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4267835" y="2185670"/>
            <a:ext cx="4250690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事件描述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282440" y="2769235"/>
            <a:ext cx="7115175" cy="6828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某企业在Hugging Face开放测试模型，因仓库权限配置错误导致内部大模型权重被公开下载，文件内含未脱敏客户对话数据，引发隐私监管调查。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01490" y="4154805"/>
            <a:ext cx="4250690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事件启示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316095" y="4738370"/>
            <a:ext cx="7115175" cy="341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模型文件本身即可成为敏感信息载体，权限治理与文件水印缺失将直接放大泄露面。</a:t>
            </a:r>
            <a:endParaRPr lang="en-US" sz="16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30" y="1981200"/>
            <a:ext cx="3761105" cy="39211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24-d3ka730s8jdo4os5eb90.jpg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20320" y="0"/>
            <a:ext cx="121716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89075" y="3167380"/>
            <a:ext cx="947547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治理框架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814570" y="1733550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3"/>
          <a:srcRect l="540" r="540"/>
          <a:stretch>
            <a:fillRect/>
          </a:stretch>
        </p:blipFill>
        <p:spPr>
          <a:xfrm>
            <a:off x="923290" y="4185920"/>
            <a:ext cx="1197610" cy="117538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3"/>
          <a:srcRect l="503" r="503"/>
          <a:stretch>
            <a:fillRect/>
          </a:stretch>
        </p:blipFill>
        <p:spPr>
          <a:xfrm>
            <a:off x="10042525" y="3649980"/>
            <a:ext cx="835660" cy="81978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3"/>
          <a:srcRect l="581" r="581"/>
          <a:stretch>
            <a:fillRect/>
          </a:stretch>
        </p:blipFill>
        <p:spPr>
          <a:xfrm>
            <a:off x="3645535" y="692150"/>
            <a:ext cx="849630" cy="8343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715" y="-78105"/>
            <a:ext cx="3992880" cy="387985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70" y="2846070"/>
            <a:ext cx="3992880" cy="38798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82930" y="509270"/>
            <a:ext cx="11609070" cy="5928995"/>
          </a:xfrm>
          <a:prstGeom prst="rect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5" name="Text 1"/>
          <p:cNvSpPr/>
          <p:nvPr/>
        </p:nvSpPr>
        <p:spPr>
          <a:xfrm>
            <a:off x="582930" y="509270"/>
            <a:ext cx="11609070" cy="59289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82675" y="809625"/>
            <a:ext cx="5194300" cy="103008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管好数据模型：验证清洗加AIBOM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95375" y="1609090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数据来源验证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95375" y="2604770"/>
            <a:ext cx="3152140" cy="1560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对训练数据进行严格来源审核，尤其是公开或众包平台的数据，通过签名验证确保数据可信，从源头杜绝投毒风险。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648200" y="1613218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数据清洗与监控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48200" y="2606040"/>
            <a:ext cx="3152140" cy="1560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利用自动化工具和多种算法交叉验证，识别并清除投毒数据，同时建立持续监控机制，实时分析模型输入数据，保障数据质量。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55000" y="1613218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AIBOM管理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55000" y="2611755"/>
            <a:ext cx="3152140" cy="19502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推行AIBOM标准，记录数据来源、模型版本等信息，将其集成到MLOps流程中，实现自动更新，提升资产透明度与可追溯性。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39-d3ka76os8jdo4os5ebfg.jpg"/>
          <p:cNvPicPr>
            <a:picLocks noChangeAspect="1"/>
          </p:cNvPicPr>
          <p:nvPr/>
        </p:nvPicPr>
        <p:blipFill>
          <a:blip r:embed="rId1"/>
          <a:srcRect t="36589" b="36589"/>
          <a:stretch>
            <a:fillRect/>
          </a:stretch>
        </p:blipFill>
        <p:spPr>
          <a:xfrm>
            <a:off x="0" y="3274060"/>
            <a:ext cx="12192000" cy="84010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0-14:11:13-d3ka708s8jdo4os5eb50.jpeg"/>
          <p:cNvPicPr>
            <a:picLocks noChangeAspect="1"/>
          </p:cNvPicPr>
          <p:nvPr/>
        </p:nvPicPr>
        <p:blipFill>
          <a:blip r:embed="rId2"/>
          <a:srcRect t="24984" b="24984"/>
          <a:stretch>
            <a:fillRect/>
          </a:stretch>
        </p:blipFill>
        <p:spPr>
          <a:xfrm>
            <a:off x="0" y="0"/>
            <a:ext cx="12192000" cy="33896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6930" y="660400"/>
            <a:ext cx="5258435" cy="103008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守住模型代码：鲁棒训练加权限封印</a:t>
            </a:r>
            <a:endParaRPr lang="en-US" sz="1600" dirty="0"/>
          </a:p>
        </p:txBody>
      </p:sp>
      <p:sp>
        <p:nvSpPr>
          <p:cNvPr id="5" name="Text 1"/>
          <p:cNvSpPr/>
          <p:nvPr>
            <p:custDataLst>
              <p:tags r:id="rId3"/>
            </p:custDataLst>
          </p:nvPr>
        </p:nvSpPr>
        <p:spPr>
          <a:xfrm>
            <a:off x="836930" y="3537585"/>
            <a:ext cx="4747895" cy="3657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模型鲁棒性提升</a:t>
            </a:r>
            <a:endParaRPr lang="en-US" sz="1600" dirty="0"/>
          </a:p>
        </p:txBody>
      </p:sp>
      <p:sp>
        <p:nvSpPr>
          <p:cNvPr id="6" name="Text 2"/>
          <p:cNvSpPr/>
          <p:nvPr>
            <p:custDataLst>
              <p:tags r:id="rId4"/>
            </p:custDataLst>
          </p:nvPr>
        </p:nvSpPr>
        <p:spPr>
          <a:xfrm>
            <a:off x="836930" y="4131310"/>
            <a:ext cx="4747260" cy="10241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在训练阶段引入对抗性训练，让模型接触并学习抵抗对抗样本，同时限制API接口返回信息的详细程度，增加模型窃取难度。</a:t>
            </a:r>
            <a:endParaRPr lang="en-US" sz="1600" dirty="0"/>
          </a:p>
        </p:txBody>
      </p:sp>
      <p:sp>
        <p:nvSpPr>
          <p:cNvPr id="7" name="Text 3"/>
          <p:cNvSpPr/>
          <p:nvPr>
            <p:custDataLst>
              <p:tags r:id="rId5"/>
            </p:custDataLst>
          </p:nvPr>
        </p:nvSpPr>
        <p:spPr>
          <a:xfrm>
            <a:off x="6503670" y="3537585"/>
            <a:ext cx="4747895" cy="3657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代码与模型保护</a:t>
            </a:r>
            <a:endParaRPr lang="en-US" sz="1600" dirty="0"/>
          </a:p>
        </p:txBody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6503670" y="4131310"/>
            <a:ext cx="4747260" cy="10241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对AI生成代码进行强制人工审查，集成依赖项扫描工具，防止恶意代码引入；对模型文件加密并嵌入水印，严格管控访问权限，防止泄露。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4:11:10-d3ka6vgs8jdo4os5eb3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7225" y="2153285"/>
            <a:ext cx="3210560" cy="312039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0-14:11:34-d3ka75gs8jdo4os5ebe0.png"/>
          <p:cNvPicPr>
            <a:picLocks noChangeAspect="1"/>
          </p:cNvPicPr>
          <p:nvPr/>
        </p:nvPicPr>
        <p:blipFill>
          <a:blip r:embed="rId2"/>
          <a:srcRect l="-2710" t="-1498" r="-5122" b="-2553"/>
          <a:stretch>
            <a:fillRect/>
          </a:stretch>
        </p:blipFill>
        <p:spPr>
          <a:xfrm rot="5400000">
            <a:off x="2147570" y="-78105"/>
            <a:ext cx="2299970" cy="54184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5500" y="507365"/>
            <a:ext cx="5193665" cy="47545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跑通MLOps：左移建模右控运行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10-14:11:34-d3ka75gs8jdo4os5ebe0.png"/>
          <p:cNvPicPr>
            <a:picLocks noChangeAspect="1"/>
          </p:cNvPicPr>
          <p:nvPr/>
        </p:nvPicPr>
        <p:blipFill>
          <a:blip r:embed="rId2"/>
          <a:srcRect l="-2710" t="-1498" r="-5122" b="-2553"/>
          <a:stretch>
            <a:fillRect/>
          </a:stretch>
        </p:blipFill>
        <p:spPr>
          <a:xfrm rot="5400000">
            <a:off x="7693660" y="-78105"/>
            <a:ext cx="2299970" cy="541845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0-14:11:34-d3ka75gs8jdo4os5ebe0.png"/>
          <p:cNvPicPr>
            <a:picLocks noChangeAspect="1"/>
          </p:cNvPicPr>
          <p:nvPr/>
        </p:nvPicPr>
        <p:blipFill>
          <a:blip r:embed="rId2"/>
          <a:srcRect l="-2710" t="-1498" r="-5122" b="-2553"/>
          <a:stretch>
            <a:fillRect/>
          </a:stretch>
        </p:blipFill>
        <p:spPr>
          <a:xfrm rot="5400000">
            <a:off x="2147570" y="2348230"/>
            <a:ext cx="2299970" cy="541845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0-14:11:34-d3ka75gs8jdo4os5ebe0.png"/>
          <p:cNvPicPr>
            <a:picLocks noChangeAspect="1"/>
          </p:cNvPicPr>
          <p:nvPr/>
        </p:nvPicPr>
        <p:blipFill>
          <a:blip r:embed="rId2"/>
          <a:srcRect l="-2710" t="-1498" r="-5122" b="-2553"/>
          <a:stretch>
            <a:fillRect/>
          </a:stretch>
        </p:blipFill>
        <p:spPr>
          <a:xfrm rot="5400000">
            <a:off x="7693660" y="2348230"/>
            <a:ext cx="2299970" cy="541845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67410" y="1574800"/>
            <a:ext cx="4879975" cy="3565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设计阶段安全前置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867410" y="1995170"/>
            <a:ext cx="4880610" cy="5970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在项目初期进行威胁建模，识别潜在风险点，将隐私保护、算法公平性等合规要求纳入设计目标，从源头保障安全。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867410" y="4001135"/>
            <a:ext cx="4879975" cy="3565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开发与训练安全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67410" y="4421505"/>
            <a:ext cx="4880610" cy="8957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确保训练环境与外部网络隔离，防止数据污染和模型篡改，使用版本控制系统对模型、代码、数据和参数进行严格管理。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6413500" y="1574800"/>
            <a:ext cx="4879975" cy="3565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部署与监控保障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413500" y="1995170"/>
            <a:ext cx="4880610" cy="5970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在生产环境部署模型监控系统，实时检测模型性能下降、预测偏差或对抗攻击迹象，及时触发预警。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6413500" y="4001135"/>
            <a:ext cx="4879975" cy="3565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D6EE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应急响应机制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413500" y="4421505"/>
            <a:ext cx="4880610" cy="5970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制定针对安全事件的应急响应流程，支持快速回滚模型版本或下线服务，降低安全事件的影响范围。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201.35937007874017,&quot;left&quot;:86.25,&quot;top&quot;:126.7,&quot;width&quot;:811.95}"/>
</p:tagLst>
</file>

<file path=ppt/tags/tag2.xml><?xml version="1.0" encoding="utf-8"?>
<p:tagLst xmlns:p="http://schemas.openxmlformats.org/presentationml/2006/main">
  <p:tag name="KSO_WM_DIAGRAM_VIRTUALLY_FRAME" val="{&quot;height&quot;:201.35937007874017,&quot;left&quot;:86.25,&quot;top&quot;:126.7,&quot;width&quot;:811.95}"/>
</p:tagLst>
</file>

<file path=ppt/tags/tag3.xml><?xml version="1.0" encoding="utf-8"?>
<p:tagLst xmlns:p="http://schemas.openxmlformats.org/presentationml/2006/main">
  <p:tag name="KSO_WM_DIAGRAM_VIRTUALLY_FRAME" val="{&quot;height&quot;:201.35937007874017,&quot;left&quot;:86.25,&quot;top&quot;:126.7,&quot;width&quot;:811.95}"/>
</p:tagLst>
</file>

<file path=ppt/tags/tag4.xml><?xml version="1.0" encoding="utf-8"?>
<p:tagLst xmlns:p="http://schemas.openxmlformats.org/presentationml/2006/main">
  <p:tag name="KSO_WM_DIAGRAM_VIRTUALLY_FRAME" val="{&quot;height&quot;:201.35937007874017,&quot;left&quot;:86.25,&quot;top&quot;:126.7,&quot;width&quot;:811.95}"/>
</p:tagLst>
</file>

<file path=ppt/tags/tag5.xml><?xml version="1.0" encoding="utf-8"?>
<p:tagLst xmlns:p="http://schemas.openxmlformats.org/presentationml/2006/main">
  <p:tag name="KSO_WM_DIAGRAM_VIRTUALLY_FRAME" val="{&quot;height&quot;:201.35937007874017,&quot;left&quot;:86.25,&quot;top&quot;:126.7,&quot;width&quot;:811.95}"/>
</p:tagLst>
</file>

<file path=ppt/tags/tag6.xml><?xml version="1.0" encoding="utf-8"?>
<p:tagLst xmlns:p="http://schemas.openxmlformats.org/presentationml/2006/main">
  <p:tag name="KSO_WM_DIAGRAM_VIRTUALLY_FRAME" val="{&quot;height&quot;:201.35937007874017,&quot;left&quot;:86.25,&quot;top&quot;:126.7,&quot;width&quot;:811.95}"/>
</p:tagLst>
</file>

<file path=ppt/tags/tag7.xml><?xml version="1.0" encoding="utf-8"?>
<p:tagLst xmlns:p="http://schemas.openxmlformats.org/presentationml/2006/main">
  <p:tag name="KSO_WM_DIAGRAM_VIRTUALLY_FRAME" val="{&quot;height&quot;:369.3655905511811,&quot;left&quot;:58.6,&quot;top&quot;:84.7,&quot;width&quot;:419.6}"/>
</p:tagLst>
</file>

<file path=ppt/tags/tag8.xml><?xml version="1.0" encoding="utf-8"?>
<p:tagLst xmlns:p="http://schemas.openxmlformats.org/presentationml/2006/main">
  <p:tag name="KSO_WM_DIAGRAM_VIRTUALLY_FRAME" val="{&quot;height&quot;:369.3655905511811,&quot;left&quot;:58.6,&quot;top&quot;:84.7,&quot;width&quot;:419.6}"/>
</p:tagLst>
</file>

<file path=ppt/tags/tag9.xml><?xml version="1.0" encoding="utf-8"?>
<p:tagLst xmlns:p="http://schemas.openxmlformats.org/presentationml/2006/main">
  <p:tag name="KSO_WM_DIAGRAM_VIRTUALLY_FRAME" val="{&quot;height&quot;:369.3655905511811,&quot;left&quot;:58.6,&quot;top&quot;:84.7,&quot;width&quot;:419.6}"/>
</p:tagLst>
</file>

<file path=ppt/tags/tag10.xml><?xml version="1.0" encoding="utf-8"?>
<p:tagLst xmlns:p="http://schemas.openxmlformats.org/presentationml/2006/main">
  <p:tag name="KSO_WM_DIAGRAM_VIRTUALLY_FRAME" val="{&quot;height&quot;:369.3655905511811,&quot;left&quot;:58.6,&quot;top&quot;:84.7,&quot;width&quot;:419.6}"/>
</p:tagLst>
</file>

<file path=ppt/tags/tag11.xml><?xml version="1.0" encoding="utf-8"?>
<p:tagLst xmlns:p="http://schemas.openxmlformats.org/presentationml/2006/main">
  <p:tag name="KSO_WM_DIAGRAM_VIRTUALLY_FRAME" val="{&quot;height&quot;:369.3655905511811,&quot;left&quot;:58.6,&quot;top&quot;:84.7,&quot;width&quot;:419.6}"/>
</p:tagLst>
</file>

<file path=ppt/tags/tag12.xml><?xml version="1.0" encoding="utf-8"?>
<p:tagLst xmlns:p="http://schemas.openxmlformats.org/presentationml/2006/main">
  <p:tag name="KSO_WM_DIAGRAM_VIRTUALLY_FRAME" val="{&quot;height&quot;:369.3655905511811,&quot;left&quot;:58.6,&quot;top&quot;:84.7,&quot;width&quot;:419.6}"/>
</p:tagLst>
</file>

<file path=ppt/tags/tag13.xml><?xml version="1.0" encoding="utf-8"?>
<p:tagLst xmlns:p="http://schemas.openxmlformats.org/presentationml/2006/main">
  <p:tag name="KSO_WM_DIAGRAM_VIRTUALLY_FRAME" val="{&quot;height&quot;:127.39062992125983,&quot;left&quot;:65.9,&quot;top&quot;:278.55,&quot;width&quot;:820.05}"/>
</p:tagLst>
</file>

<file path=ppt/tags/tag14.xml><?xml version="1.0" encoding="utf-8"?>
<p:tagLst xmlns:p="http://schemas.openxmlformats.org/presentationml/2006/main">
  <p:tag name="KSO_WM_DIAGRAM_VIRTUALLY_FRAME" val="{&quot;height&quot;:127.39062992125983,&quot;left&quot;:65.9,&quot;top&quot;:278.55,&quot;width&quot;:820.05}"/>
</p:tagLst>
</file>

<file path=ppt/tags/tag15.xml><?xml version="1.0" encoding="utf-8"?>
<p:tagLst xmlns:p="http://schemas.openxmlformats.org/presentationml/2006/main">
  <p:tag name="KSO_WM_DIAGRAM_VIRTUALLY_FRAME" val="{&quot;height&quot;:127.39062992125983,&quot;left&quot;:65.9,&quot;top&quot;:278.55,&quot;width&quot;:820.05}"/>
</p:tagLst>
</file>

<file path=ppt/tags/tag16.xml><?xml version="1.0" encoding="utf-8"?>
<p:tagLst xmlns:p="http://schemas.openxmlformats.org/presentationml/2006/main">
  <p:tag name="KSO_WM_DIAGRAM_VIRTUALLY_FRAME" val="{&quot;height&quot;:127.39062992125983,&quot;left&quot;:65.9,&quot;top&quot;:278.55,&quot;width&quot;:820.0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1515</Words>
  <Application>WPS 演示</Application>
  <PresentationFormat>On-screen Show (16:9)</PresentationFormat>
  <Paragraphs>136</Paragraphs>
  <Slides>14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AI供应链：新战场与新规则</dc:title>
  <dc:creator>Kimi</dc:creator>
  <dc:subject>AI供应链：新战场与新规则</dc:subject>
  <cp:lastModifiedBy>欧睿</cp:lastModifiedBy>
  <cp:revision>3</cp:revision>
  <dcterms:created xsi:type="dcterms:W3CDTF">2025-11-26T04:06:00Z</dcterms:created>
  <dcterms:modified xsi:type="dcterms:W3CDTF">2025-11-26T09:05:22Z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{"Label":"AI供应链：新战场与新规则","ContentProducer":"001191110108MACG2KBH8F10000","ProduceID":"d4j7orlgsoadbbb3dh8g","ReservedCode1":"","ContentPropagator":"001191110108MACG2KBH8F20000","PropagateID":"d4j7orlgsoadbbb3dh8g","ReservedCode2":""}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C1340A43E5E24659B6881FFD7F75B1B2_12</vt:lpwstr>
  </property>
</Properties>
</file>