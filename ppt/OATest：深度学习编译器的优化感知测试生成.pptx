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1.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老师好，今天我将向您汇报我对《OATest: Optimization-Aware Test Generation for Deep Learning Compilers》这篇论文的理解。这份汇报将从研究背景、技术方案、实验结果以及关键问题解答等方面，全面解析OATest的设计思想和实现细节。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六个部分。首先，我们会探讨研究背景和当前存在的问题；接着，通过一个具体的bug示例来引出OATest的必要性；然后，详细介绍OATest的技术方案；之后，展示实验评估结果；再对两个关键问题进行解答；最后总结本研究的主要贡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来看研究背景。深度学习编译器在AI模型部署中至关重要，但它们的优化模块却很容易出问题。现有的测试方法，无论是基于语法的还是基于大语言模型的，都存在各自的局限性，无法高效地发现优化中的潜在错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为了更直观地说明问题，我们来看一个例子。这张图展示了一个由OATest发现的真实bug。</a:t>
            </a:r>
            <a:endParaRPr lang="en-US" sz="1400" b="0" i="0" u="none" strike="noStrike">
              <a:solidFill>
                <a:srgbClr val="000000"/>
              </a:solidFill>
            </a:endParaRPr>
          </a:p>
          <a:p>
            <a:pPr indent="0" algn="l">
              <a:lnSpc>
                <a:spcPct val="100000"/>
              </a:lnSpc>
            </a:pPr>
            <a:r>
              <a:rPr lang="en-US" sz="1400" b="0" i="0" u="none" strike="noStrike">
                <a:solidFill>
                  <a:srgbClr val="000000"/>
                </a:solidFill>
              </a:rPr>
              <a:t>这个bug非常隐蔽，它不仅要求计算图包含特定的操作模式，还要求这个模式必须被包裹在一个特定的代码块中。现有的随机测试方法很难同时满足这些条件，这正是OATest要解决的核心问题。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为了解决上述问题，论文提出了OATest，其核心思想是“计算图合成”。</a:t>
            </a:r>
            <a:endParaRPr lang="en-US" sz="1400" b="0" i="0" u="none" strike="noStrike">
              <a:solidFill>
                <a:srgbClr val="000000"/>
              </a:solidFill>
            </a:endParaRPr>
          </a:p>
          <a:p>
            <a:pPr indent="0" algn="l">
              <a:lnSpc>
                <a:spcPct val="100000"/>
              </a:lnSpc>
            </a:pPr>
            <a:r>
              <a:rPr lang="en-US" sz="1400" b="0" i="0" u="none" strike="noStrike">
                <a:solidFill>
                  <a:srgbClr val="000000"/>
                </a:solidFill>
              </a:rPr>
              <a:t>这张图展示了OATest的整体工作流程，主要分为三步：</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首先，从文档化测试中提取能触发特定优化的模式；</a:t>
            </a:r>
            <a:endParaRPr lang="en-US" sz="1400" b="0" i="0" u="none" strike="noStrike">
              <a:solidFill>
                <a:srgbClr val="000000"/>
              </a:solidFill>
            </a:endParaRPr>
          </a:p>
          <a:p>
            <a:pPr indent="0" algn="l">
              <a:lnSpc>
                <a:spcPct val="100000"/>
              </a:lnSpc>
            </a:pPr>
            <a:r>
              <a:rPr lang="en-US" sz="1400" b="0" i="0" u="none" strike="noStrike">
                <a:solidFill>
                  <a:srgbClr val="000000"/>
                </a:solidFill>
              </a:rPr>
              <a:t>然后，将这些模式与随机生成的种子图进行合成，生成多样化的测试用例；</a:t>
            </a:r>
            <a:endParaRPr lang="en-US" sz="1400" b="0" i="0" u="none" strike="noStrike">
              <a:solidFill>
                <a:srgbClr val="000000"/>
              </a:solidFill>
            </a:endParaRPr>
          </a:p>
          <a:p>
            <a:pPr indent="0" algn="l">
              <a:lnSpc>
                <a:spcPct val="100000"/>
              </a:lnSpc>
            </a:pPr>
            <a:r>
              <a:rPr lang="en-US" sz="1400" b="0" i="0" u="none" strike="noStrike">
                <a:solidFill>
                  <a:srgbClr val="000000"/>
                </a:solidFill>
              </a:rPr>
              <a:t>最后，通过测试预言（如程序崩溃或结果不一致）来自动检测深度学习编译器中的Bug。</a:t>
            </a:r>
            <a:endParaRPr lang="en-US" sz="1400" b="0" i="0" u="none" strike="noStrike">
              <a:solidFill>
                <a:srgbClr val="000000"/>
              </a:solidFill>
            </a:endParaRPr>
          </a:p>
          <a:p>
            <a:pPr indent="0" algn="l">
              <a:lnSpc>
                <a:spcPct val="100000"/>
              </a:lnSpc>
            </a:pPr>
            <a:r>
              <a:rPr lang="en-US" sz="1400" b="0" i="0" u="none" strike="noStrike">
                <a:solidFill>
                  <a:srgbClr val="000000"/>
                </a:solidFill>
              </a:rPr>
              <a:t>接下来，我将详细介绍每一步的具体实现细节。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步是模式提取。不同于从复杂源码中猜测，OATest直接利用编译器自带的、高质量的文档化测试。通过代码插桩，我们可以精准地捕获到每个优化对应的计算图结构，并从中提取出关键的模式。这一步保证了我们得到的模式是准确且能有效触发优化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第二步是计算图合成，这是技术的核心难点。简单地将模式插入到种子图中会导致错误。</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我们面临的核心挑战是：直接插入会导致模式中的算子输入未定义，从而生成无效的计算图。</a:t>
            </a:r>
            <a:endParaRPr lang="en-US" sz="1400" b="0" i="0" u="none" strike="noStrike">
              <a:solidFill>
                <a:srgbClr val="000000"/>
              </a:solidFill>
            </a:endParaRPr>
          </a:p>
          <a:p>
            <a:pPr indent="0" algn="l">
              <a:lnSpc>
                <a:spcPct val="100000"/>
              </a:lnSpc>
            </a:pPr>
            <a:r>
              <a:rPr lang="en-US" sz="1400" b="0" i="0" u="none" strike="noStrike">
                <a:solidFill>
                  <a:srgbClr val="000000"/>
                </a:solidFill>
              </a:rPr>
              <a:t>为此，OATest设计了两种策略来解决这个问题。第一种策略是“复用现有节点”。</a:t>
            </a:r>
            <a:endParaRPr lang="en-US" sz="1400" b="0" i="0" u="none" strike="noStrike">
              <a:solidFill>
                <a:srgbClr val="000000"/>
              </a:solidFill>
            </a:endParaRPr>
          </a:p>
          <a:p>
            <a:pPr indent="0" algn="l">
              <a:lnSpc>
                <a:spcPct val="100000"/>
              </a:lnSpc>
            </a:pPr>
            <a:r>
              <a:rPr lang="en-US" sz="1400" b="0" i="0" u="none" strike="noStrike">
                <a:solidFill>
                  <a:srgbClr val="000000"/>
                </a:solidFill>
              </a:rPr>
              <a:t>如右侧图表所示，我们在种子图中寻找现成的、与模式输入在维度和类型上都兼容的变量，直接建立连接。这种方式最直接，也能最大化模式与上下文的交互效果。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第二种策略是“创建新节点”。如果找不到兼容的变量，OATest会通过插入转换节点来“强行”建立连接。</a:t>
            </a:r>
            <a:endParaRPr lang="en-US" sz="1400" b="0" i="0" u="none" strike="noStrike">
              <a:solidFill>
                <a:srgbClr val="000000"/>
              </a:solidFill>
            </a:endParaRPr>
          </a:p>
          <a:p>
            <a:pPr indent="0" algn="l">
              <a:lnSpc>
                <a:spcPct val="100000"/>
              </a:lnSpc>
            </a:pPr>
            <a:r>
              <a:rPr lang="en-US" sz="1400" b="0" i="0" u="none" strike="noStrike">
                <a:solidFill>
                  <a:srgbClr val="000000"/>
                </a:solidFill>
              </a:rPr>
              <a:t>比如通过Reshape改变维度，或通过Cast转换数据类型，从而确保合成后的计算图是合法可执行的。</a:t>
            </a:r>
            <a:endParaRPr lang="en-US" sz="1400" b="0" i="0" u="none" strike="noStrike">
              <a:solidFill>
                <a:srgbClr val="000000"/>
              </a:solidFill>
            </a:endParaRPr>
          </a:p>
          <a:p>
            <a:pPr indent="0" algn="l">
              <a:lnSpc>
                <a:spcPct val="100000"/>
              </a:lnSpc>
            </a:pPr>
            <a:r>
              <a:rPr lang="en-US" sz="1400" b="0" i="0" u="none" strike="noStrike">
                <a:solidFill>
                  <a:srgbClr val="000000"/>
                </a:solidFill>
              </a:rPr>
              <a:t>这两种策略结合，将测试的合法率提升到了接近100%。</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第三步是测试预言，即如何判断我们生成的测试用例是否发现了bug。OATest采用了两种业界公认的标准：</a:t>
            </a:r>
            <a:endParaRPr lang="en-US" sz="1400" b="0" i="0" u="none" strike="noStrike">
              <a:solidFill>
                <a:srgbClr val="000000"/>
              </a:solidFill>
            </a:endParaRPr>
          </a:p>
          <a:p>
            <a:pPr indent="0" algn="l">
              <a:lnSpc>
                <a:spcPct val="100000"/>
              </a:lnSpc>
            </a:pPr>
            <a:r>
              <a:rPr lang="en-US" sz="1400" b="0" i="0" u="none" strike="noStrike">
                <a:solidFill>
                  <a:srgbClr val="000000"/>
                </a:solidFill>
              </a:rPr>
              <a:t>一是观察编译器是否崩溃，这张图就是一个崩溃的例子，展示了由于代码逻辑错误导致的程序异常终止；</a:t>
            </a:r>
            <a:endParaRPr lang="en-US" sz="1400" b="0" i="0" u="none" strike="noStrike">
              <a:solidFill>
                <a:srgbClr val="000000"/>
              </a:solidFill>
            </a:endParaRPr>
          </a:p>
          <a:p>
            <a:pPr indent="0" algn="l">
              <a:lnSpc>
                <a:spcPct val="100000"/>
              </a:lnSpc>
            </a:pPr>
            <a:r>
              <a:rPr lang="en-US" sz="1400" b="0" i="0" u="none" strike="noStrike">
                <a:solidFill>
                  <a:srgbClr val="000000"/>
                </a:solidFill>
              </a:rPr>
              <a:t>二是对比开启和关闭优化后的输出结果是否一致，任何不一致都可能指向一个潜在的优化错误，这能有效发现那些虽然没有崩溃但语义被改变的隐蔽bug。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接下来是实验评估部分。我们在TVM和ONNXRuntime这两个主流编译器上对OATest进行了全面测试。</a:t>
            </a:r>
            <a:endParaRPr lang="en-US" sz="1400" b="0" i="0" u="none" strike="noStrike">
              <a:solidFill>
                <a:srgbClr val="000000"/>
              </a:solidFill>
            </a:endParaRPr>
          </a:p>
          <a:p>
            <a:pPr indent="0" algn="l">
              <a:lnSpc>
                <a:spcPct val="100000"/>
              </a:lnSpc>
            </a:pPr>
            <a:r>
              <a:rPr lang="en-US" sz="1400" b="0" i="0" u="none" strike="noStrike">
                <a:solidFill>
                  <a:srgbClr val="000000"/>
                </a:solidFill>
              </a:rPr>
              <a:t>结果非常显著：我们总共发现了56个新bug，其中大部分已被官方确认和修复。</a:t>
            </a:r>
            <a:endParaRPr lang="en-US" sz="1400" b="0" i="0" u="none" strike="noStrike">
              <a:solidFill>
                <a:srgbClr val="000000"/>
              </a:solidFill>
            </a:endParaRPr>
          </a:p>
          <a:p>
            <a:pPr indent="0" algn="l">
              <a:lnSpc>
                <a:spcPct val="100000"/>
              </a:lnSpc>
            </a:pPr>
            <a:r>
              <a:rPr lang="en-US" sz="1400" b="0" i="0" u="none" strike="noStrike">
                <a:solidFill>
                  <a:srgbClr val="000000"/>
                </a:solidFill>
              </a:rPr>
              <a:t>在与现有技术的对比中，OATest在相同时间内发现的bug数量远远超过了NNSmith和WhiteFox，这充分证明了我们方法的有效性。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发现更多bug，OATest在代码覆盖率上也表现出色。无论是行覆盖率还是分支覆盖率，OATest都显著高于其他方法，这说明我们的测试用例能够更有效地驱动编译器执行更多的优化代码路径，从而更全面地验证编译器的正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接下来，我将回答两个关键问题。第一个问题是：新图合成是怎么做的，子图从哪来？</a:t>
            </a:r>
            <a:endParaRPr lang="en-US" sz="1400" b="0" i="0" u="none" strike="noStrike">
              <a:solidFill>
                <a:srgbClr val="000000"/>
              </a:solidFill>
            </a:endParaRPr>
          </a:p>
          <a:p>
            <a:pPr indent="0" algn="l">
              <a:lnSpc>
                <a:spcPct val="100000"/>
              </a:lnSpc>
            </a:pPr>
            <a:r>
              <a:rPr lang="en-US" sz="1400" b="0" i="0" u="none" strike="noStrike">
                <a:solidFill>
                  <a:srgbClr val="000000"/>
                </a:solidFill>
              </a:rPr>
              <a:t>答案是，子图不是随机生成的，而是从编译器自带的文档化测试中提取的，这些测试本身就包含了正确的优化模式。</a:t>
            </a:r>
            <a:endParaRPr lang="en-US" sz="1400" b="0" i="0" u="none" strike="noStrike">
              <a:solidFill>
                <a:srgbClr val="000000"/>
              </a:solidFill>
            </a:endParaRPr>
          </a:p>
          <a:p>
            <a:pPr indent="0" algn="l">
              <a:lnSpc>
                <a:spcPct val="100000"/>
              </a:lnSpc>
            </a:pPr>
            <a:r>
              <a:rPr lang="en-US" sz="1400" b="0" i="0" u="none" strike="noStrike">
                <a:solidFill>
                  <a:srgbClr val="000000"/>
                </a:solidFill>
              </a:rPr>
              <a:t>合成过程就是将这些模式嵌入到随机的种子图中，这样既保证了针对性，又增加了多样性。</a:t>
            </a:r>
            <a:endParaRPr lang="en-US" sz="1400" b="0" i="0" u="none" strike="noStrike">
              <a:solidFill>
                <a:srgbClr val="000000"/>
              </a:solidFill>
            </a:endParaRPr>
          </a:p>
          <a:p>
            <a:pPr indent="0" algn="l">
              <a:lnSpc>
                <a:spcPct val="100000"/>
              </a:lnSpc>
            </a:pPr>
            <a:r>
              <a:rPr lang="en-US" sz="1400" b="0" i="0" u="none" strike="noStrike">
                <a:solidFill>
                  <a:srgbClr val="000000"/>
                </a:solidFill>
              </a:rPr>
              <a:t>下方的图片展示了一个论文中合成的计算图示例，大家可以看到其代码结构和模式嵌入的效果。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第二个问题是：合成过程如何避免形状和类型不匹配的问题？OATest的策略是“先抽象，后对齐”。</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首先，它会把模式的具体形状和类型信息去掉，让它变成一个通用模板。</a:t>
            </a:r>
            <a:endParaRPr lang="en-US" sz="1400" b="0" i="0" u="none" strike="noStrike">
              <a:solidFill>
                <a:srgbClr val="000000"/>
              </a:solidFill>
            </a:endParaRPr>
          </a:p>
          <a:p>
            <a:pPr indent="0" algn="l">
              <a:lnSpc>
                <a:spcPct val="100000"/>
              </a:lnSpc>
            </a:pPr>
            <a:r>
              <a:rPr lang="en-US" sz="1400" b="0" i="0" u="none" strike="noStrike">
                <a:solidFill>
                  <a:srgbClr val="000000"/>
                </a:solidFill>
              </a:rPr>
              <a:t>然后，在合成时，优先寻找兼容的变量进行连接；如果找不到，就通过插入转换节点来“改造”变量，确保连接有效。这保证了生成的计算图总是合法的。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总结一下OATest的主要贡献。首先，它提出了计算图合成这一新方法；其次，实现了OATest这一具体技术；最后，通过充分的实验验证了其有效性和优越性。总而言之，OATest为深度学习编译器的测试提供了一种更高效、更可靠的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我的汇报到此结束，感谢老师的聆听和指导。我们的项目代码已经开源，欢迎老师访问GitHub链接进行了解。谢谢！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6.sv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6.sv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5.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27.svg"/><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3.svg"/><Relationship Id="rId7" Type="http://schemas.openxmlformats.org/officeDocument/2006/relationships/image" Target="../media/image32.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9.svg"/><Relationship Id="rId10" Type="http://schemas.openxmlformats.org/officeDocument/2006/relationships/notesSlide" Target="../notesSlides/notesSlide14.xml"/><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270000"/>
            <a:ext cx="812800" cy="812800"/>
          </a:xfrm>
          <a:prstGeom prst="rect">
            <a:avLst/>
          </a:prstGeom>
        </p:spPr>
      </p:pic>
      <p:sp>
        <p:nvSpPr>
          <p:cNvPr id="4" name="AutoShape 4"/>
          <p:cNvSpPr/>
          <p:nvPr/>
        </p:nvSpPr>
        <p:spPr>
          <a:xfrm>
            <a:off x="609600" y="2286000"/>
            <a:ext cx="109728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论文汇报：OATest深度解析</a:t>
            </a:r>
            <a:endParaRPr lang="en-US" sz="1100"/>
          </a:p>
        </p:txBody>
      </p:sp>
      <p:sp>
        <p:nvSpPr>
          <p:cNvPr id="5" name="AutoShape 5"/>
          <p:cNvSpPr/>
          <p:nvPr/>
        </p:nvSpPr>
        <p:spPr>
          <a:xfrm>
            <a:off x="1219200" y="3175000"/>
            <a:ext cx="97536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0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Optimization-Aware Test Generation for Deep Learning Compilers</a:t>
            </a:r>
            <a:endParaRPr lang="en-US" sz="1100"/>
          </a:p>
        </p:txBody>
      </p:sp>
      <p:cxnSp>
        <p:nvCxnSpPr>
          <p:cNvPr id="6" name="Connector 6"/>
          <p:cNvCxnSpPr/>
          <p:nvPr/>
        </p:nvCxnSpPr>
        <p:spPr>
          <a:xfrm rot="-34376">
            <a:off x="5461032" y="4311650"/>
            <a:ext cx="1270000" cy="12700"/>
          </a:xfrm>
          <a:prstGeom prst="line">
            <a:avLst/>
          </a:prstGeom>
          <a:solidFill>
            <a:srgbClr val="DEE0E3">
              <a:alpha val="100000"/>
            </a:srgbClr>
          </a:solidFill>
          <a:ln w="25400" cap="flat" cmpd="sng">
            <a:solidFill>
              <a:srgbClr val="000000">
                <a:alpha val="100000"/>
              </a:srgbClr>
            </a:solidFill>
            <a:prstDash val="solid"/>
            <a:round/>
            <a:headEnd type="none" w="lg" len="lg"/>
            <a:tailEnd type="none" w="lg" len="lg"/>
          </a:ln>
        </p:spPr>
      </p:cxnSp>
      <p:sp>
        <p:nvSpPr>
          <p:cNvPr id="7" name="AutoShape 7"/>
          <p:cNvSpPr/>
          <p:nvPr/>
        </p:nvSpPr>
        <p:spPr>
          <a:xfrm>
            <a:off x="609600" y="4699000"/>
            <a:ext cx="109728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深度学习编译器测试生成技术专题汇报</a:t>
            </a:r>
            <a:endParaRPr lang="en-US" sz="1100"/>
          </a:p>
        </p:txBody>
      </p:sp>
      <p:sp>
        <p:nvSpPr>
          <p:cNvPr id="8" name="AutoShape 8"/>
          <p:cNvSpPr/>
          <p:nvPr/>
        </p:nvSpPr>
        <p:spPr>
          <a:xfrm>
            <a:off x="609600" y="5969000"/>
            <a:ext cx="10972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2023 / 学术研讨 / 汇报人</a:t>
            </a:r>
            <a:endParaRPr lang="en-US" sz="1100"/>
          </a:p>
        </p:txBody>
      </p:sp>
      <p:sp>
        <p:nvSpPr>
          <p:cNvPr id="9" name="AutoShape 9"/>
          <p:cNvSpPr/>
          <p:nvPr/>
        </p:nvSpPr>
        <p:spPr>
          <a:xfrm>
            <a:off x="0" y="6705600"/>
            <a:ext cx="12192000" cy="1524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4025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Poppins"/>
                <a:ea typeface="Poppins"/>
                <a:cs typeface="Poppins"/>
                <a:sym typeface="Poppins"/>
              </a:rPr>
              <a:t>CONTENTS</a:t>
            </a:r>
            <a:endParaRPr lang="en-US" sz="1100"/>
          </a:p>
        </p:txBody>
      </p:sp>
      <p:cxnSp>
        <p:nvCxnSpPr>
          <p:cNvPr id="3" name="Connector 3"/>
          <p:cNvCxnSpPr/>
          <p:nvPr/>
        </p:nvCxnSpPr>
        <p:spPr>
          <a:xfrm rot="-57290">
            <a:off x="762053" y="1771650"/>
            <a:ext cx="762000" cy="12700"/>
          </a:xfrm>
          <a:prstGeom prst="line">
            <a:avLst/>
          </a:prstGeom>
          <a:solidFill>
            <a:srgbClr val="DEE0E3">
              <a:alpha val="100000"/>
            </a:srgbClr>
          </a:solidFill>
          <a:ln w="38100" cap="flat" cmpd="sng">
            <a:solidFill>
              <a:srgbClr val="000000">
                <a:alpha val="100000"/>
              </a:srgbClr>
            </a:solidFill>
            <a:prstDash val="solid"/>
            <a:round/>
            <a:headEnd type="none" w="lg" len="lg"/>
            <a:tailEnd type="none" w="lg" len="lg"/>
          </a:ln>
        </p:spPr>
      </p:cxnSp>
      <p:sp>
        <p:nvSpPr>
          <p:cNvPr id="4" name="AutoShape 4"/>
          <p:cNvSpPr/>
          <p:nvPr/>
        </p:nvSpPr>
        <p:spPr>
          <a:xfrm>
            <a:off x="762000" y="22860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Poppins"/>
                <a:ea typeface="Poppins"/>
                <a:cs typeface="Poppins"/>
                <a:sym typeface="Poppins"/>
              </a:rPr>
              <a:t>01</a:t>
            </a:r>
            <a:endParaRPr lang="en-US" sz="1100"/>
          </a:p>
        </p:txBody>
      </p:sp>
      <p:sp>
        <p:nvSpPr>
          <p:cNvPr id="5" name="AutoShape 5"/>
          <p:cNvSpPr/>
          <p:nvPr/>
        </p:nvSpPr>
        <p:spPr>
          <a:xfrm>
            <a:off x="1397000" y="2260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研究背景与问题</a:t>
            </a:r>
            <a:endParaRPr lang="en-US" sz="1100"/>
          </a:p>
        </p:txBody>
      </p:sp>
      <p:sp>
        <p:nvSpPr>
          <p:cNvPr id="6" name="AutoShape 6"/>
          <p:cNvSpPr/>
          <p:nvPr/>
        </p:nvSpPr>
        <p:spPr>
          <a:xfrm>
            <a:off x="762000" y="29210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Poppins"/>
                <a:ea typeface="Poppins"/>
                <a:cs typeface="Poppins"/>
                <a:sym typeface="Poppins"/>
              </a:rPr>
              <a:t>02</a:t>
            </a:r>
            <a:endParaRPr lang="en-US" sz="1100"/>
          </a:p>
        </p:txBody>
      </p:sp>
      <p:sp>
        <p:nvSpPr>
          <p:cNvPr id="7" name="AutoShape 7"/>
          <p:cNvSpPr/>
          <p:nvPr/>
        </p:nvSpPr>
        <p:spPr>
          <a:xfrm>
            <a:off x="1397000" y="2895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动机示例：一个具体的Bug</a:t>
            </a:r>
            <a:endParaRPr lang="en-US" sz="1100"/>
          </a:p>
        </p:txBody>
      </p:sp>
      <p:sp>
        <p:nvSpPr>
          <p:cNvPr id="8" name="AutoShape 8"/>
          <p:cNvSpPr/>
          <p:nvPr/>
        </p:nvSpPr>
        <p:spPr>
          <a:xfrm>
            <a:off x="762000" y="35560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Poppins"/>
                <a:ea typeface="Poppins"/>
                <a:cs typeface="Poppins"/>
                <a:sym typeface="Poppins"/>
              </a:rPr>
              <a:t>03</a:t>
            </a:r>
            <a:endParaRPr lang="en-US" sz="1100"/>
          </a:p>
        </p:txBody>
      </p:sp>
      <p:sp>
        <p:nvSpPr>
          <p:cNvPr id="9" name="AutoShape 9"/>
          <p:cNvSpPr/>
          <p:nvPr/>
        </p:nvSpPr>
        <p:spPr>
          <a:xfrm>
            <a:off x="1397000" y="3530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OATest 技术方案详解</a:t>
            </a:r>
            <a:endParaRPr lang="en-US" sz="1100"/>
          </a:p>
        </p:txBody>
      </p:sp>
      <p:sp>
        <p:nvSpPr>
          <p:cNvPr id="10" name="AutoShape 10"/>
          <p:cNvSpPr/>
          <p:nvPr/>
        </p:nvSpPr>
        <p:spPr>
          <a:xfrm>
            <a:off x="6350000" y="22860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Poppins"/>
                <a:ea typeface="Poppins"/>
                <a:cs typeface="Poppins"/>
                <a:sym typeface="Poppins"/>
              </a:rPr>
              <a:t>04</a:t>
            </a:r>
            <a:endParaRPr lang="en-US" sz="1100"/>
          </a:p>
        </p:txBody>
      </p:sp>
      <p:sp>
        <p:nvSpPr>
          <p:cNvPr id="11" name="AutoShape 11"/>
          <p:cNvSpPr/>
          <p:nvPr/>
        </p:nvSpPr>
        <p:spPr>
          <a:xfrm>
            <a:off x="6985000" y="2260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实验评估与结果</a:t>
            </a:r>
            <a:endParaRPr lang="en-US" sz="1100"/>
          </a:p>
        </p:txBody>
      </p:sp>
      <p:sp>
        <p:nvSpPr>
          <p:cNvPr id="12" name="AutoShape 12"/>
          <p:cNvSpPr/>
          <p:nvPr/>
        </p:nvSpPr>
        <p:spPr>
          <a:xfrm>
            <a:off x="6350000" y="29210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Poppins"/>
                <a:ea typeface="Poppins"/>
                <a:cs typeface="Poppins"/>
                <a:sym typeface="Poppins"/>
              </a:rPr>
              <a:t>05</a:t>
            </a:r>
            <a:endParaRPr lang="en-US" sz="1100"/>
          </a:p>
        </p:txBody>
      </p:sp>
      <p:sp>
        <p:nvSpPr>
          <p:cNvPr id="13" name="AutoShape 13"/>
          <p:cNvSpPr/>
          <p:nvPr/>
        </p:nvSpPr>
        <p:spPr>
          <a:xfrm>
            <a:off x="6985000" y="2895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关键问题解答</a:t>
            </a:r>
            <a:endParaRPr lang="en-US" sz="1100"/>
          </a:p>
        </p:txBody>
      </p:sp>
      <p:sp>
        <p:nvSpPr>
          <p:cNvPr id="14" name="AutoShape 14"/>
          <p:cNvSpPr/>
          <p:nvPr/>
        </p:nvSpPr>
        <p:spPr>
          <a:xfrm>
            <a:off x="6350000" y="35560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Poppins"/>
                <a:ea typeface="Poppins"/>
                <a:cs typeface="Poppins"/>
                <a:sym typeface="Poppins"/>
              </a:rPr>
              <a:t>06</a:t>
            </a:r>
            <a:endParaRPr lang="en-US" sz="1100"/>
          </a:p>
        </p:txBody>
      </p:sp>
      <p:sp>
        <p:nvSpPr>
          <p:cNvPr id="15" name="AutoShape 15"/>
          <p:cNvSpPr/>
          <p:nvPr/>
        </p:nvSpPr>
        <p:spPr>
          <a:xfrm>
            <a:off x="6985000" y="3530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主要贡献与总结</a:t>
            </a:r>
            <a:endParaRPr lang="en-US" sz="1100"/>
          </a:p>
        </p:txBody>
      </p:sp>
      <p:sp>
        <p:nvSpPr>
          <p:cNvPr id="16" name="AutoShape 16"/>
          <p:cNvSpPr/>
          <p:nvPr/>
        </p:nvSpPr>
        <p:spPr>
          <a:xfrm>
            <a:off x="762000" y="5080000"/>
            <a:ext cx="10668000" cy="12700"/>
          </a:xfrm>
          <a:prstGeom prst="roundRect">
            <a:avLst>
              <a:gd name="adj" fmla="val 0"/>
            </a:avLst>
          </a:prstGeom>
          <a:solidFill>
            <a:srgbClr val="000000">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5270500"/>
            <a:ext cx="1066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000000">
                    <a:alpha val="50196"/>
                  </a:srgbClr>
                </a:solidFill>
                <a:latin typeface="Poppins"/>
                <a:ea typeface="Poppins"/>
                <a:cs typeface="Poppins"/>
                <a:sym typeface="Poppins"/>
              </a:rPr>
              <a:t>OATest: Testing for Overloaded APIs</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3517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研究背景与问题</a:t>
            </a:r>
            <a:endParaRPr lang="en-US" sz="1100"/>
          </a:p>
        </p:txBody>
      </p:sp>
      <p:cxnSp>
        <p:nvCxnSpPr>
          <p:cNvPr id="3" name="Connector 3"/>
          <p:cNvCxnSpPr/>
          <p:nvPr/>
        </p:nvCxnSpPr>
        <p:spPr>
          <a:xfrm rot="-4092">
            <a:off x="762004" y="1771650"/>
            <a:ext cx="10668000" cy="12700"/>
          </a:xfrm>
          <a:prstGeom prst="line">
            <a:avLst/>
          </a:prstGeom>
          <a:solidFill>
            <a:srgbClr val="DEE0E3">
              <a:alpha val="100000"/>
            </a:srgbClr>
          </a:solidFill>
          <a:ln w="12700" cap="flat" cmpd="sng">
            <a:solidFill>
              <a:srgbClr val="000000">
                <a:alpha val="20000"/>
              </a:srgbClr>
            </a:solidFill>
            <a:prstDash val="solid"/>
            <a:round/>
            <a:headEnd type="none" w="med" len="med"/>
            <a:tailEnd type="none" w="med" len="med"/>
          </a:ln>
        </p:spPr>
      </p:cxnSp>
      <p:sp>
        <p:nvSpPr>
          <p:cNvPr id="4" name="AutoShape 4"/>
          <p:cNvSpPr/>
          <p:nvPr/>
        </p:nvSpPr>
        <p:spPr>
          <a:xfrm>
            <a:off x="762000" y="2032000"/>
            <a:ext cx="10668000" cy="1079500"/>
          </a:xfrm>
          <a:prstGeom prst="roundRect">
            <a:avLst>
              <a:gd name="adj" fmla="val 1176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311400"/>
            <a:ext cx="508000" cy="508000"/>
          </a:xfrm>
          <a:prstGeom prst="rect">
            <a:avLst/>
          </a:prstGeom>
        </p:spPr>
      </p:pic>
      <p:sp>
        <p:nvSpPr>
          <p:cNvPr id="6" name="AutoShape 6"/>
          <p:cNvSpPr/>
          <p:nvPr/>
        </p:nvSpPr>
        <p:spPr>
          <a:xfrm>
            <a:off x="1714500" y="2159000"/>
            <a:ext cx="952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深度学习编译器的核心作用</a:t>
            </a:r>
            <a:endParaRPr lang="en-US" sz="1100"/>
          </a:p>
        </p:txBody>
      </p:sp>
      <p:sp>
        <p:nvSpPr>
          <p:cNvPr id="7" name="AutoShape 7"/>
          <p:cNvSpPr/>
          <p:nvPr/>
        </p:nvSpPr>
        <p:spPr>
          <a:xfrm>
            <a:off x="1714500" y="2540000"/>
            <a:ext cx="952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作为AI模型部署的关键环节，负责优化模型计算图以适应不同硬件架构，直接影响推理效率。</a:t>
            </a:r>
            <a:endParaRPr lang="en-US" sz="1100"/>
          </a:p>
        </p:txBody>
      </p:sp>
      <p:sp>
        <p:nvSpPr>
          <p:cNvPr id="8" name="AutoShape 8"/>
          <p:cNvSpPr/>
          <p:nvPr/>
        </p:nvSpPr>
        <p:spPr>
          <a:xfrm>
            <a:off x="762000" y="3238500"/>
            <a:ext cx="10668000" cy="1079500"/>
          </a:xfrm>
          <a:prstGeom prst="roundRect">
            <a:avLst>
              <a:gd name="adj" fmla="val 1176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517900"/>
            <a:ext cx="508000" cy="508000"/>
          </a:xfrm>
          <a:prstGeom prst="rect">
            <a:avLst/>
          </a:prstGeom>
        </p:spPr>
      </p:pic>
      <p:sp>
        <p:nvSpPr>
          <p:cNvPr id="10" name="AutoShape 10"/>
          <p:cNvSpPr/>
          <p:nvPr/>
        </p:nvSpPr>
        <p:spPr>
          <a:xfrm>
            <a:off x="1714500" y="3365500"/>
            <a:ext cx="952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优化模块的脆弱性</a:t>
            </a:r>
            <a:endParaRPr lang="en-US" sz="1100"/>
          </a:p>
        </p:txBody>
      </p:sp>
      <p:sp>
        <p:nvSpPr>
          <p:cNvPr id="11" name="AutoShape 11"/>
          <p:cNvSpPr/>
          <p:nvPr/>
        </p:nvSpPr>
        <p:spPr>
          <a:xfrm>
            <a:off x="1714500" y="3746500"/>
            <a:ext cx="952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优化模块（Pass）逻辑极其复杂，极易引入隐蔽性错误，可能导致模型数值异常或服务崩溃。</a:t>
            </a:r>
            <a:endParaRPr lang="en-US" sz="1100"/>
          </a:p>
        </p:txBody>
      </p:sp>
      <p:sp>
        <p:nvSpPr>
          <p:cNvPr id="12" name="AutoShape 12"/>
          <p:cNvSpPr/>
          <p:nvPr/>
        </p:nvSpPr>
        <p:spPr>
          <a:xfrm>
            <a:off x="762000" y="4445000"/>
            <a:ext cx="10668000" cy="1397000"/>
          </a:xfrm>
          <a:prstGeom prst="roundRect">
            <a:avLst>
              <a:gd name="adj" fmla="val 909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508000" cy="508000"/>
          </a:xfrm>
          <a:prstGeom prst="rect">
            <a:avLst/>
          </a:prstGeom>
        </p:spPr>
      </p:pic>
      <p:sp>
        <p:nvSpPr>
          <p:cNvPr id="14" name="AutoShape 14"/>
          <p:cNvSpPr/>
          <p:nvPr/>
        </p:nvSpPr>
        <p:spPr>
          <a:xfrm>
            <a:off x="1714500" y="4572000"/>
            <a:ext cx="952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现有测试方法的局限性</a:t>
            </a:r>
            <a:endParaRPr lang="en-US" sz="1100"/>
          </a:p>
        </p:txBody>
      </p:sp>
      <p:sp>
        <p:nvSpPr>
          <p:cNvPr id="15" name="AutoShape 15"/>
          <p:cNvSpPr/>
          <p:nvPr/>
        </p:nvSpPr>
        <p:spPr>
          <a:xfrm>
            <a:off x="1714500" y="4953000"/>
            <a:ext cx="9525000" cy="762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74151"/>
              </a:buClr>
              <a:buChar char="•"/>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基于语法的方法（如NNSmith）：</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能生成合法图，但缺乏针对性，难以有效触发特定优化逻辑。</a:t>
            </a:r>
            <a:endParaRPr lang="en-US" sz="1100"/>
          </a:p>
          <a:p>
            <a:pPr marL="177800" indent="-177800" algn="l">
              <a:lnSpc>
                <a:spcPct val="125000"/>
              </a:lnSpc>
              <a:buClr>
                <a:srgbClr val="374151"/>
              </a:buClr>
              <a:buChar cha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基于LLM的方法（如WhiteFox）：</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受限于模型能力，模式挖掘不准确，生成测试用例的有效性较低。</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 动机示例：一个具体的Bug</a:t>
            </a:r>
            <a:endParaRPr lang="en-US" sz="1100"/>
          </a:p>
        </p:txBody>
      </p:sp>
      <p:sp>
        <p:nvSpPr>
          <p:cNvPr id="3" name="AutoShape 3"/>
          <p:cNvSpPr/>
          <p:nvPr/>
        </p:nvSpPr>
        <p:spPr>
          <a:xfrm>
            <a:off x="4377055" y="1524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OATest生成的计算图触发了TVM中StaticPlanBlockMemory优化的未知Bug。</a:t>
            </a:r>
            <a:endParaRPr lang="en-US" sz="1100"/>
          </a:p>
        </p:txBody>
      </p:sp>
      <p:sp>
        <p:nvSpPr>
          <p:cNvPr id="4" name="AutoShape 4"/>
          <p:cNvSpPr/>
          <p:nvPr/>
        </p:nvSpPr>
        <p:spPr>
          <a:xfrm>
            <a:off x="4377055" y="2032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触发条件：</a:t>
            </a: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需同时满足两个严苛条件：</a:t>
            </a:r>
            <a:endParaRPr lang="en-US" sz="1100"/>
          </a:p>
          <a:p>
            <a:pPr indent="254000" algn="l">
              <a:lnSpc>
                <a:spcPct val="125000"/>
              </a:lnSpc>
            </a:pP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1. 计算图包含 R.builtin.alloc_tensor 特定操作模式；</a:t>
            </a:r>
            <a:endPar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254000" algn="l">
              <a:lnSpc>
                <a:spcPct val="125000"/>
              </a:lnSpc>
            </a:pP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2. 该模式必须包裹在 dataflow 代码块中。</a:t>
            </a:r>
            <a:endPar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4314825" y="292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a:t>
            </a: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现有随机测试难以覆盖此类复杂组合条件，凸显针对性测试的必要性。</a:t>
            </a:r>
            <a:endParaRPr lang="en-US" sz="1100"/>
          </a:p>
        </p:txBody>
      </p:sp>
      <p:pic>
        <p:nvPicPr>
          <p:cNvPr id="6" name="Picture 6"/>
          <p:cNvPicPr>
            <a:picLocks noChangeAspect="1"/>
          </p:cNvPicPr>
          <p:nvPr/>
        </p:nvPicPr>
        <p:blipFill>
          <a:blip r:embed="rId1"/>
          <a:srcRect l="211" r="211"/>
          <a:stretch>
            <a:fillRect/>
          </a:stretch>
        </p:blipFill>
        <p:spPr>
          <a:xfrm>
            <a:off x="372110" y="1397000"/>
            <a:ext cx="3876675" cy="5338445"/>
          </a:xfrm>
          <a:prstGeom prst="rect">
            <a:avLst/>
          </a:prstGeom>
          <a:noFill/>
          <a:ln w="12700" cap="flat" cmpd="sng">
            <a:solidFill>
              <a:srgbClr val="DCDCDC">
                <a:alpha val="100000"/>
              </a:srgbClr>
            </a:solidFill>
            <a:prstDash val="solid"/>
            <a:rou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7543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3. OATest 技术方案详解</a:t>
            </a:r>
            <a:endParaRPr lang="en-US" sz="1100"/>
          </a:p>
        </p:txBody>
      </p:sp>
      <p:sp>
        <p:nvSpPr>
          <p:cNvPr id="3" name="AutoShape 3"/>
          <p:cNvSpPr/>
          <p:nvPr/>
        </p:nvSpPr>
        <p:spPr>
          <a:xfrm>
            <a:off x="762000" y="1714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核心思想：计算图合成 —— 提取优化感知模式，合成至多样化计算图上下文</a:t>
            </a:r>
            <a:endParaRPr lang="en-US" sz="1100"/>
          </a:p>
        </p:txBody>
      </p:sp>
      <p:sp>
        <p:nvSpPr>
          <p:cNvPr id="4" name="AutoShape 4"/>
          <p:cNvSpPr/>
          <p:nvPr/>
        </p:nvSpPr>
        <p:spPr>
          <a:xfrm>
            <a:off x="762000" y="2159000"/>
            <a:ext cx="10668000" cy="889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25000"/>
              </a:lnSpc>
              <a:buClr>
                <a:srgbClr val="1E1E1E"/>
              </a:buClr>
              <a:buFont typeface="Wingdings" panose="05000000000000000000"/>
              <a:buChar char="n"/>
              <a:defRPr/>
            </a:pPr>
            <a:r>
              <a:rPr lang="en-US" sz="1500" b="1"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模式提取：</a:t>
            </a:r>
            <a:r>
              <a:rPr lang="en-US" sz="15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从文档化测试中精准提取能触发特定优化的代码模式</a:t>
            </a:r>
            <a:endParaRPr lang="en-US" sz="1100"/>
          </a:p>
          <a:p>
            <a:pPr marL="190500" indent="-190500" algn="l">
              <a:lnSpc>
                <a:spcPct val="125000"/>
              </a:lnSpc>
              <a:buClr>
                <a:srgbClr val="1E1E1E"/>
              </a:buClr>
              <a:buFont typeface="Wingdings" panose="05000000000000000000"/>
              <a:buChar char="n"/>
            </a:pPr>
            <a:r>
              <a:rPr lang="en-US" sz="1500" b="1"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计算图合成：</a:t>
            </a:r>
            <a:r>
              <a:rPr lang="en-US" sz="15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将提取的模式与随机种子图结合，生成有效且多样的测试用例</a:t>
            </a:r>
            <a:endParaRPr lang="en-US" sz="15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90500" indent="-190500" algn="l">
              <a:lnSpc>
                <a:spcPct val="125000"/>
              </a:lnSpc>
              <a:buClr>
                <a:srgbClr val="1E1E1E"/>
              </a:buClr>
              <a:buFont typeface="Wingdings" panose="05000000000000000000"/>
              <a:buChar char="n"/>
            </a:pPr>
            <a:r>
              <a:rPr lang="en-US" sz="1500" b="1"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测试预言：</a:t>
            </a:r>
            <a:r>
              <a:rPr lang="en-US" sz="15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通过程序崩溃或结果不一致性（Inconsistency）自动判定Bug</a:t>
            </a:r>
            <a:endParaRPr lang="en-US" sz="15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Picture 5"/>
          <p:cNvPicPr>
            <a:picLocks noChangeAspect="1"/>
          </p:cNvPicPr>
          <p:nvPr/>
        </p:nvPicPr>
        <p:blipFill>
          <a:blip r:embed="rId1"/>
          <a:srcRect t="71" b="71"/>
          <a:stretch>
            <a:fillRect/>
          </a:stretch>
        </p:blipFill>
        <p:spPr>
          <a:xfrm>
            <a:off x="2324100" y="3175000"/>
            <a:ext cx="7543800" cy="2794000"/>
          </a:xfrm>
          <a:prstGeom prst="rect">
            <a:avLst/>
          </a:prstGeom>
          <a:noFill/>
          <a:ln w="25400" cap="flat" cmpd="sng">
            <a:noFill/>
            <a:prstDash val="solid"/>
            <a:round/>
          </a:ln>
        </p:spPr>
      </p:pic>
      <p:sp>
        <p:nvSpPr>
          <p:cNvPr id="6" name="AutoShape 6"/>
          <p:cNvSpPr/>
          <p:nvPr/>
        </p:nvSpPr>
        <p:spPr>
          <a:xfrm>
            <a:off x="2324100" y="6032500"/>
            <a:ext cx="75438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图 2：OATest 计算图合成与测试执行的整体工作流程</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6045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技术方案（一）：模式提取</a:t>
            </a:r>
            <a:endParaRPr lang="en-US" sz="1100"/>
          </a:p>
        </p:txBody>
      </p:sp>
      <p:sp>
        <p:nvSpPr>
          <p:cNvPr id="3" name="AutoShape 3"/>
          <p:cNvSpPr/>
          <p:nvPr/>
        </p:nvSpPr>
        <p:spPr>
          <a:xfrm>
            <a:off x="762000" y="2032000"/>
            <a:ext cx="3302000" cy="2794000"/>
          </a:xfrm>
          <a:prstGeom prst="roundRect">
            <a:avLst>
              <a:gd name="adj" fmla="val 4545"/>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86000"/>
            <a:ext cx="406400" cy="406400"/>
          </a:xfrm>
          <a:prstGeom prst="rect">
            <a:avLst/>
          </a:prstGeom>
        </p:spPr>
      </p:pic>
      <p:sp>
        <p:nvSpPr>
          <p:cNvPr id="5" name="AutoShape 5"/>
          <p:cNvSpPr/>
          <p:nvPr/>
        </p:nvSpPr>
        <p:spPr>
          <a:xfrm>
            <a:off x="1524000" y="2260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输入：文档化测试集</a:t>
            </a:r>
            <a:endParaRPr lang="en-US" sz="1100"/>
          </a:p>
        </p:txBody>
      </p:sp>
      <p:sp>
        <p:nvSpPr>
          <p:cNvPr id="6" name="AutoShape 6"/>
          <p:cNvSpPr/>
          <p:nvPr/>
        </p:nvSpPr>
        <p:spPr>
          <a:xfrm>
            <a:off x="1016000" y="2794000"/>
            <a:ext cx="2794000" cy="177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利用编译器自带的、由开发者编写的文档化测试集。这些测试本身专为验证特定优化的正确性而设计，具备高质量与权威性。</a:t>
            </a:r>
            <a:endParaRPr lang="en-US" sz="1100"/>
          </a:p>
        </p:txBody>
      </p:sp>
      <p:sp>
        <p:nvSpPr>
          <p:cNvPr id="7" name="AutoShape 7"/>
          <p:cNvSpPr/>
          <p:nvPr/>
        </p:nvSpPr>
        <p:spPr>
          <a:xfrm>
            <a:off x="4445000" y="2032000"/>
            <a:ext cx="3302000" cy="2794000"/>
          </a:xfrm>
          <a:prstGeom prst="roundRect">
            <a:avLst>
              <a:gd name="adj" fmla="val 4545"/>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286000"/>
            <a:ext cx="406400" cy="406400"/>
          </a:xfrm>
          <a:prstGeom prst="rect">
            <a:avLst/>
          </a:prstGeom>
        </p:spPr>
      </p:pic>
      <p:sp>
        <p:nvSpPr>
          <p:cNvPr id="9" name="AutoShape 9"/>
          <p:cNvSpPr/>
          <p:nvPr/>
        </p:nvSpPr>
        <p:spPr>
          <a:xfrm>
            <a:off x="5207000" y="2260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方法：代码插桩捕获</a:t>
            </a:r>
            <a:endParaRPr lang="en-US" sz="1100"/>
          </a:p>
        </p:txBody>
      </p:sp>
      <p:sp>
        <p:nvSpPr>
          <p:cNvPr id="10" name="AutoShape 10"/>
          <p:cNvSpPr/>
          <p:nvPr/>
        </p:nvSpPr>
        <p:spPr>
          <a:xfrm>
            <a:off x="4699000" y="2794000"/>
            <a:ext cx="2794000" cy="177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通过代码插桩技术，在运行测试用例时，动态捕获程序执行流中每个优化所对应的底层计算图结构，确保数据的精准性。</a:t>
            </a:r>
            <a:endParaRPr lang="en-US" sz="1100"/>
          </a:p>
        </p:txBody>
      </p:sp>
      <p:sp>
        <p:nvSpPr>
          <p:cNvPr id="11" name="AutoShape 11"/>
          <p:cNvSpPr/>
          <p:nvPr/>
        </p:nvSpPr>
        <p:spPr>
          <a:xfrm>
            <a:off x="8128000" y="2032000"/>
            <a:ext cx="3302000" cy="2794000"/>
          </a:xfrm>
          <a:prstGeom prst="roundRect">
            <a:avLst>
              <a:gd name="adj" fmla="val 4545"/>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286000"/>
            <a:ext cx="406400" cy="406400"/>
          </a:xfrm>
          <a:prstGeom prst="rect">
            <a:avLst/>
          </a:prstGeom>
        </p:spPr>
      </p:pic>
      <p:sp>
        <p:nvSpPr>
          <p:cNvPr id="13" name="AutoShape 13"/>
          <p:cNvSpPr/>
          <p:nvPr/>
        </p:nvSpPr>
        <p:spPr>
          <a:xfrm>
            <a:off x="8890000" y="22606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输出：优化感知模式</a:t>
            </a:r>
            <a:endParaRPr lang="en-US" sz="1100"/>
          </a:p>
        </p:txBody>
      </p:sp>
      <p:sp>
        <p:nvSpPr>
          <p:cNvPr id="14" name="AutoShape 14"/>
          <p:cNvSpPr/>
          <p:nvPr/>
        </p:nvSpPr>
        <p:spPr>
          <a:xfrm>
            <a:off x="8382000" y="2794000"/>
            <a:ext cx="2794000" cy="177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依据优化的不同粒度（块级或子图级），从捕获的计算图中提取出能够有效触发目标优化的关键“优化感知模式”。</a:t>
            </a:r>
            <a:endParaRPr lang="en-US" sz="1100"/>
          </a:p>
        </p:txBody>
      </p:sp>
      <p:cxnSp>
        <p:nvCxnSpPr>
          <p:cNvPr id="15" name="Connector 15"/>
          <p:cNvCxnSpPr/>
          <p:nvPr/>
        </p:nvCxnSpPr>
        <p:spPr>
          <a:xfrm rot="-4092">
            <a:off x="762004" y="5581650"/>
            <a:ext cx="10668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762000" y="5715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核心价值：不同于从复杂源码中猜测，该流程保证了提取模式的准确性与可验证性。</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技术方案（二）：计算图合成 - 复用现有节点</a:t>
            </a:r>
            <a:endParaRPr lang="en-US" sz="1100"/>
          </a:p>
        </p:txBody>
      </p:sp>
      <p:cxnSp>
        <p:nvCxnSpPr>
          <p:cNvPr id="3" name="Connector 3"/>
          <p:cNvCxnSpPr/>
          <p:nvPr/>
        </p:nvCxnSpPr>
        <p:spPr>
          <a:xfrm rot="-4092">
            <a:off x="762004" y="1390650"/>
            <a:ext cx="10668000" cy="12700"/>
          </a:xfrm>
          <a:prstGeom prst="line">
            <a:avLst/>
          </a:prstGeom>
          <a:solidFill>
            <a:srgbClr val="DEE0E3">
              <a:alpha val="100000"/>
            </a:srgbClr>
          </a:solidFill>
          <a:ln w="12700" cap="flat" cmpd="sng">
            <a:solidFill>
              <a:srgbClr val="C8C8C8">
                <a:alpha val="100000"/>
              </a:srgbClr>
            </a:solidFill>
            <a:prstDash val="solid"/>
            <a:round/>
            <a:headEnd type="none" w="med" len="med"/>
            <a:tailEnd type="none" w="med" len="med"/>
          </a:ln>
        </p:spPr>
      </p:cxnSp>
      <p:sp>
        <p:nvSpPr>
          <p:cNvPr id="4" name="AutoShape 4"/>
          <p:cNvSpPr/>
          <p:nvPr/>
        </p:nvSpPr>
        <p:spPr>
          <a:xfrm>
            <a:off x="762000" y="1778000"/>
            <a:ext cx="5588000" cy="1397000"/>
          </a:xfrm>
          <a:prstGeom prst="roundRect">
            <a:avLst>
              <a:gd name="adj" fmla="val 9090"/>
            </a:avLst>
          </a:prstGeom>
          <a:solidFill>
            <a:srgbClr val="F8F9FA">
              <a:alpha val="100000"/>
            </a:srgbClr>
          </a:solidFill>
          <a:ln cap="flat" cmpd="sng">
            <a:solidFill>
              <a:srgbClr val="C8D4E1">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68500"/>
            <a:ext cx="304800" cy="304800"/>
          </a:xfrm>
          <a:prstGeom prst="rect">
            <a:avLst/>
          </a:prstGeom>
        </p:spPr>
      </p:pic>
      <p:sp>
        <p:nvSpPr>
          <p:cNvPr id="6" name="AutoShape 6"/>
          <p:cNvSpPr/>
          <p:nvPr/>
        </p:nvSpPr>
        <p:spPr>
          <a:xfrm>
            <a:off x="1397000" y="19304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核心挑战：输入未定义问题</a:t>
            </a:r>
            <a:endParaRPr lang="en-US" sz="1100"/>
          </a:p>
        </p:txBody>
      </p:sp>
      <p:sp>
        <p:nvSpPr>
          <p:cNvPr id="7" name="AutoShape 7"/>
          <p:cNvSpPr/>
          <p:nvPr/>
        </p:nvSpPr>
        <p:spPr>
          <a:xfrm>
            <a:off x="1016000" y="23495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直接将抽象模式插入到种子图中会导致模式中的算子输入未定义，生成结构不完整的无效计算图。</a:t>
            </a:r>
            <a:endParaRPr lang="en-US" sz="1100"/>
          </a:p>
        </p:txBody>
      </p:sp>
      <p:sp>
        <p:nvSpPr>
          <p:cNvPr id="8" name="AutoShape 8"/>
          <p:cNvSpPr/>
          <p:nvPr/>
        </p:nvSpPr>
        <p:spPr>
          <a:xfrm>
            <a:off x="762000" y="3429000"/>
            <a:ext cx="5588000" cy="1651000"/>
          </a:xfrm>
          <a:prstGeom prst="roundRect">
            <a:avLst>
              <a:gd name="adj" fmla="val 7692"/>
            </a:avLst>
          </a:prstGeom>
          <a:solidFill>
            <a:srgbClr val="F8F9FA">
              <a:alpha val="100000"/>
            </a:srgbClr>
          </a:solidFill>
          <a:ln cap="flat" cmpd="sng">
            <a:solidFill>
              <a:srgbClr val="C8D4E1">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19500"/>
            <a:ext cx="304800" cy="304800"/>
          </a:xfrm>
          <a:prstGeom prst="rect">
            <a:avLst/>
          </a:prstGeom>
        </p:spPr>
      </p:pic>
      <p:sp>
        <p:nvSpPr>
          <p:cNvPr id="10" name="AutoShape 10"/>
          <p:cNvSpPr/>
          <p:nvPr/>
        </p:nvSpPr>
        <p:spPr>
          <a:xfrm>
            <a:off x="1397000" y="35814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策略一：复用现有节点 (Reuse Nodes)</a:t>
            </a:r>
            <a:endParaRPr lang="en-US" sz="1100"/>
          </a:p>
        </p:txBody>
      </p:sp>
      <p:sp>
        <p:nvSpPr>
          <p:cNvPr id="11" name="AutoShape 11"/>
          <p:cNvSpPr/>
          <p:nvPr/>
        </p:nvSpPr>
        <p:spPr>
          <a:xfrm>
            <a:off x="1016000" y="4000500"/>
            <a:ext cx="5080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在种子图中主动寻找与模式输入在维度、数据类型上完全兼容的已有变量，直接建立连接。这是最理想的合成情况，能最大化模式与上下文的交互。</a:t>
            </a:r>
            <a:endParaRPr lang="en-US" sz="1100"/>
          </a:p>
        </p:txBody>
      </p:sp>
      <p:pic>
        <p:nvPicPr>
          <p:cNvPr id="12" name="Picture 12"/>
          <p:cNvPicPr>
            <a:picLocks noChangeAspect="1"/>
          </p:cNvPicPr>
          <p:nvPr/>
        </p:nvPicPr>
        <p:blipFill>
          <a:blip r:embed="rId5"/>
          <a:srcRect b="17241"/>
          <a:stretch>
            <a:fillRect/>
          </a:stretch>
        </p:blipFill>
        <p:spPr>
          <a:xfrm>
            <a:off x="6858000" y="1778000"/>
            <a:ext cx="3556000" cy="3048000"/>
          </a:xfrm>
          <a:prstGeom prst="rect">
            <a:avLst/>
          </a:prstGeom>
          <a:noFill/>
          <a:ln w="12700" cap="flat" cmpd="sng">
            <a:solidFill>
              <a:srgbClr val="DCDCDC">
                <a:alpha val="100000"/>
              </a:srgbClr>
            </a:solidFill>
            <a:prstDash val="solid"/>
            <a:round/>
          </a:ln>
          <a:effectLst>
            <a:outerShdw blurRad="127000" dist="50800" dir="2700000" algn="tl" rotWithShape="0">
              <a:srgbClr val="000000">
                <a:alpha val="10000"/>
              </a:srgbClr>
            </a:outerShdw>
          </a:effectLst>
        </p:spPr>
      </p:pic>
      <p:sp>
        <p:nvSpPr>
          <p:cNvPr id="13" name="AutoShape 13"/>
          <p:cNvSpPr/>
          <p:nvPr/>
        </p:nvSpPr>
        <p:spPr>
          <a:xfrm>
            <a:off x="6858000" y="49530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1"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Figure 3: 复用现有节点修复未定义输入示例</a:t>
            </a:r>
            <a:endParaRPr lang="en-US" sz="1100"/>
          </a:p>
        </p:txBody>
      </p:sp>
      <p:sp>
        <p:nvSpPr>
          <p:cNvPr id="14" name="AutoShape 14"/>
          <p:cNvSpPr/>
          <p:nvPr/>
        </p:nvSpPr>
        <p:spPr>
          <a:xfrm>
            <a:off x="762000" y="5842000"/>
            <a:ext cx="10668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OATest: 面向深度学习算子库的自动化测试框架</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9550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技术方案（二）：计算图合成 - 创建新节点</a:t>
            </a:r>
            <a:endParaRPr lang="en-US" sz="1100"/>
          </a:p>
        </p:txBody>
      </p:sp>
      <p:cxnSp>
        <p:nvCxnSpPr>
          <p:cNvPr id="3" name="Connector 3"/>
          <p:cNvCxnSpPr/>
          <p:nvPr/>
        </p:nvCxnSpPr>
        <p:spPr>
          <a:xfrm rot="-4092">
            <a:off x="762004" y="1771650"/>
            <a:ext cx="10668000" cy="12700"/>
          </a:xfrm>
          <a:prstGeom prst="line">
            <a:avLst/>
          </a:prstGeom>
          <a:solidFill>
            <a:srgbClr val="DEE0E3">
              <a:alpha val="100000"/>
            </a:srgbClr>
          </a:solidFill>
          <a:ln w="12700" cap="flat" cmpd="sng">
            <a:solidFill>
              <a:srgbClr val="C8C8C8">
                <a:alpha val="100000"/>
              </a:srgbClr>
            </a:solidFill>
            <a:prstDash val="solid"/>
            <a:round/>
            <a:headEnd type="none" w="med" len="med"/>
            <a:tailEnd type="none" w="med" len="med"/>
          </a:ln>
        </p:spPr>
      </p:cxnSp>
      <p:sp>
        <p:nvSpPr>
          <p:cNvPr id="4" name="AutoShape 4"/>
          <p:cNvSpPr/>
          <p:nvPr/>
        </p:nvSpPr>
        <p:spPr>
          <a:xfrm>
            <a:off x="762000" y="2032000"/>
            <a:ext cx="5588000" cy="279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spcAft>
                <a:spcPts val="1500"/>
              </a:spcAft>
              <a:defRPr/>
            </a:pPr>
            <a:r>
              <a:rPr lang="en-US" sz="2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策略二：创建新节点 (Node Creation)</a:t>
            </a:r>
            <a:endParaRPr lang="en-US" sz="1100"/>
          </a:p>
          <a:p>
            <a:pPr indent="0" algn="l">
              <a:lnSpc>
                <a:spcPct val="117000"/>
              </a:lnSpc>
              <a:spcAft>
                <a:spcPts val="1000"/>
              </a:spcAft>
            </a:pPr>
            <a:r>
              <a:rPr lang="en-US" sz="16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当种子图中不存在兼容的变量时，OATest 会自动生成转换节点作为“桥梁”。</a:t>
            </a:r>
            <a:endParaRPr lang="en-US" sz="16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6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这些节点包括：</a:t>
            </a:r>
            <a:endParaRPr lang="en-US" sz="16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03200" indent="-203200" algn="l">
              <a:lnSpc>
                <a:spcPct val="117000"/>
              </a:lnSpc>
              <a:buClr>
                <a:srgbClr val="505050"/>
              </a:buClr>
              <a:buChar char="•"/>
            </a:pPr>
            <a:r>
              <a:rPr lang="en-US" sz="16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Padding / Reshape：</a:t>
            </a: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调整张量维度与形状</a:t>
            </a:r>
            <a:endPar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03200" indent="-203200" algn="l">
              <a:lnSpc>
                <a:spcPct val="117000"/>
              </a:lnSpc>
              <a:buClr>
                <a:srgbClr val="505050"/>
              </a:buClr>
              <a:buChar char="•"/>
            </a:pPr>
            <a:r>
              <a:rPr lang="en-US" sz="16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Cast：</a:t>
            </a: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转换数据类型以匹配算子要求</a:t>
            </a:r>
            <a:endPar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000"/>
              </a:spcBef>
            </a:pPr>
            <a:r>
              <a:rPr lang="en-US" sz="16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该策略确保了合成后的计算图始终满足执行条件，合法有效。</a:t>
            </a:r>
            <a:endParaRPr lang="en-US" sz="16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Picture 5"/>
          <p:cNvPicPr>
            <a:picLocks noChangeAspect="1"/>
          </p:cNvPicPr>
          <p:nvPr/>
        </p:nvPicPr>
        <p:blipFill>
          <a:blip r:embed="rId1"/>
          <a:srcRect t="50000"/>
          <a:stretch>
            <a:fillRect/>
          </a:stretch>
        </p:blipFill>
        <p:spPr>
          <a:xfrm>
            <a:off x="6858000" y="2032000"/>
            <a:ext cx="3302000" cy="1803400"/>
          </a:xfrm>
          <a:prstGeom prst="rect">
            <a:avLst/>
          </a:prstGeom>
          <a:noFill/>
          <a:ln w="12700" cap="flat" cmpd="sng">
            <a:solidFill>
              <a:srgbClr val="E6E6E6">
                <a:alpha val="100000"/>
              </a:srgbClr>
            </a:solidFill>
            <a:prstDash val="solid"/>
            <a:round/>
          </a:ln>
          <a:effectLst>
            <a:outerShdw blurRad="101600" dist="50800" dir="2700000" algn="tl" rotWithShape="0">
              <a:srgbClr val="000000">
                <a:alpha val="10000"/>
              </a:srgbClr>
            </a:outerShdw>
          </a:effectLst>
        </p:spPr>
      </p:pic>
      <p:sp>
        <p:nvSpPr>
          <p:cNvPr id="6" name="AutoShape 6"/>
          <p:cNvSpPr/>
          <p:nvPr/>
        </p:nvSpPr>
        <p:spPr>
          <a:xfrm>
            <a:off x="6858000" y="3937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图 4：通过创建新节点修复未定义输入示例</a:t>
            </a:r>
            <a:endParaRPr lang="en-US" sz="1100"/>
          </a:p>
        </p:txBody>
      </p:sp>
      <p:sp>
        <p:nvSpPr>
          <p:cNvPr id="7" name="AutoShape 7"/>
          <p:cNvSpPr/>
          <p:nvPr/>
        </p:nvSpPr>
        <p:spPr>
          <a:xfrm>
            <a:off x="762000" y="5080000"/>
            <a:ext cx="10668000" cy="762000"/>
          </a:xfrm>
          <a:prstGeom prst="roundRect">
            <a:avLst>
              <a:gd name="adj" fmla="val 16666"/>
            </a:avLst>
          </a:prstGeom>
          <a:solidFill>
            <a:srgbClr val="F8F8F8">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5270500"/>
            <a:ext cx="381000" cy="381000"/>
          </a:xfrm>
          <a:prstGeom prst="rect">
            <a:avLst/>
          </a:prstGeom>
        </p:spPr>
      </p:pic>
      <p:sp>
        <p:nvSpPr>
          <p:cNvPr id="9" name="AutoShape 9"/>
          <p:cNvSpPr/>
          <p:nvPr/>
        </p:nvSpPr>
        <p:spPr>
          <a:xfrm>
            <a:off x="1524000" y="5207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6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通过“复用现有节点”与“创建转换节点”双策略，将测试用例的合法生成率提升至接近 100%。</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技术方案（三）：测试预言</a:t>
            </a:r>
            <a:endParaRPr lang="en-US" sz="1100"/>
          </a:p>
        </p:txBody>
      </p:sp>
      <p:cxnSp>
        <p:nvCxnSpPr>
          <p:cNvPr id="3" name="Connector 3"/>
          <p:cNvCxnSpPr/>
          <p:nvPr/>
        </p:nvCxnSpPr>
        <p:spPr>
          <a:xfrm rot="-4092">
            <a:off x="762004" y="1390650"/>
            <a:ext cx="10668000" cy="12700"/>
          </a:xfrm>
          <a:prstGeom prst="line">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78000"/>
            <a:ext cx="304800" cy="304800"/>
          </a:xfrm>
          <a:prstGeom prst="rect">
            <a:avLst/>
          </a:prstGeom>
        </p:spPr>
      </p:pic>
      <p:sp>
        <p:nvSpPr>
          <p:cNvPr id="5" name="AutoShape 5"/>
          <p:cNvSpPr/>
          <p:nvPr/>
        </p:nvSpPr>
        <p:spPr>
          <a:xfrm>
            <a:off x="1143000" y="17272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崩溃 (Crash)</a:t>
            </a:r>
            <a:endParaRPr lang="en-US" sz="1100"/>
          </a:p>
        </p:txBody>
      </p:sp>
      <p:sp>
        <p:nvSpPr>
          <p:cNvPr id="6" name="AutoShape 6"/>
          <p:cNvSpPr/>
          <p:nvPr/>
        </p:nvSpPr>
        <p:spPr>
          <a:xfrm>
            <a:off x="762000" y="21590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当编译器处理测试用例时发生崩溃，这是最直接的 bug 表现形式，通常由空指针引用或数组越界等严重错误导致。</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175000"/>
            <a:ext cx="304800" cy="304800"/>
          </a:xfrm>
          <a:prstGeom prst="rect">
            <a:avLst/>
          </a:prstGeom>
        </p:spPr>
      </p:pic>
      <p:sp>
        <p:nvSpPr>
          <p:cNvPr id="8" name="AutoShape 8"/>
          <p:cNvSpPr/>
          <p:nvPr/>
        </p:nvSpPr>
        <p:spPr>
          <a:xfrm>
            <a:off x="1143000" y="31242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结果不一致 (Inconsistency)</a:t>
            </a:r>
            <a:endParaRPr lang="en-US" sz="1100"/>
          </a:p>
        </p:txBody>
      </p:sp>
      <p:sp>
        <p:nvSpPr>
          <p:cNvPr id="9" name="AutoShape 9"/>
          <p:cNvSpPr/>
          <p:nvPr/>
        </p:nvSpPr>
        <p:spPr>
          <a:xfrm>
            <a:off x="762000" y="3556000"/>
            <a:ext cx="5080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对比开启优化 (Optimized) 和关闭优化 (Unoptimized) 两种情况下的输出结果。若存在显著语义差异，则表明优化过程可能引入了逻辑错误。</a:t>
            </a:r>
            <a:endParaRPr lang="en-US" sz="1100"/>
          </a:p>
        </p:txBody>
      </p:sp>
      <p:sp>
        <p:nvSpPr>
          <p:cNvPr id="10" name="AutoShape 10"/>
          <p:cNvSpPr/>
          <p:nvPr/>
        </p:nvSpPr>
        <p:spPr>
          <a:xfrm>
            <a:off x="6223000" y="1778000"/>
            <a:ext cx="5207000" cy="2984500"/>
          </a:xfrm>
          <a:prstGeom prst="roundRect">
            <a:avLst>
              <a:gd name="adj" fmla="val 4255"/>
            </a:avLst>
          </a:prstGeom>
          <a:solidFill>
            <a:srgbClr val="F8F8F8">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srcRect/>
          <a:stretch>
            <a:fillRect/>
          </a:stretch>
        </p:blipFill>
        <p:spPr>
          <a:xfrm>
            <a:off x="6350000" y="1879600"/>
            <a:ext cx="4953000" cy="2794000"/>
          </a:xfrm>
          <a:prstGeom prst="rect">
            <a:avLst/>
          </a:prstGeom>
          <a:noFill/>
          <a:ln w="25400" cap="flat" cmpd="sng">
            <a:noFill/>
            <a:prstDash val="solid"/>
            <a:round/>
          </a:ln>
          <a:effectLst>
            <a:outerShdw blurRad="127000" dist="50800" dir="5400000" algn="tl" rotWithShape="0">
              <a:srgbClr val="000000">
                <a:alpha val="10000"/>
              </a:srgbClr>
            </a:outerShdw>
          </a:effectLst>
        </p:spPr>
      </p:pic>
      <p:sp>
        <p:nvSpPr>
          <p:cNvPr id="12" name="AutoShape 12"/>
          <p:cNvSpPr/>
          <p:nvPr/>
        </p:nvSpPr>
        <p:spPr>
          <a:xfrm>
            <a:off x="6223000" y="4889500"/>
            <a:ext cx="520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1"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图 1：OATest 检测到的崩溃 Bug 示例 (#17120)</a:t>
            </a:r>
            <a:endParaRPr lang="en-US" sz="1100"/>
          </a:p>
        </p:txBody>
      </p:sp>
      <p:sp>
        <p:nvSpPr>
          <p:cNvPr id="13" name="AutoShape 13"/>
          <p:cNvSpPr/>
          <p:nvPr/>
        </p:nvSpPr>
        <p:spPr>
          <a:xfrm>
            <a:off x="762000" y="5461000"/>
            <a:ext cx="10668000" cy="762000"/>
          </a:xfrm>
          <a:prstGeom prst="roundRect">
            <a:avLst>
              <a:gd name="adj" fmla="val 16666"/>
            </a:avLst>
          </a:prstGeom>
          <a:solidFill>
            <a:srgbClr val="F0F0F0">
              <a:alpha val="50000"/>
            </a:srgbClr>
          </a:solidFill>
          <a:ln w="12700" cap="flat" cmpd="sng">
            <a:solidFill>
              <a:srgbClr val="DCDCDC">
                <a:alpha val="100000"/>
              </a:srgbClr>
            </a:solidFill>
            <a:prstDash val="dash"/>
            <a:round/>
          </a:ln>
        </p:spPr>
        <p:txBody>
          <a:bodyPr vert="horz" wrap="square" lIns="63500" tIns="63500" rIns="63500" bIns="63500" rtlCol="0" anchor="ctr"/>
          <a:lstStyle/>
          <a:p>
            <a:pPr algn="ctr">
              <a:defRPr/>
            </a:pPr>
          </a:p>
        </p:txBody>
      </p:sp>
      <p:sp>
        <p:nvSpPr>
          <p:cNvPr id="14" name="AutoShape 14"/>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核心策略：</a:t>
            </a:r>
            <a:r>
              <a:rPr lang="en-US" sz="16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通过“崩溃”与“结果不一致”双重标准，确保测试预言的高覆盖率与准确性。</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572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4. 实验评估与结果</a:t>
            </a:r>
            <a:endParaRPr lang="en-US" sz="1100"/>
          </a:p>
        </p:txBody>
      </p:sp>
      <p:cxnSp>
        <p:nvCxnSpPr>
          <p:cNvPr id="3" name="Connector 3"/>
          <p:cNvCxnSpPr/>
          <p:nvPr/>
        </p:nvCxnSpPr>
        <p:spPr>
          <a:xfrm rot="-4092">
            <a:off x="762004" y="1263650"/>
            <a:ext cx="10668000" cy="12700"/>
          </a:xfrm>
          <a:prstGeom prst="line">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4" name="AutoShape 4"/>
          <p:cNvSpPr/>
          <p:nvPr/>
        </p:nvSpPr>
        <p:spPr>
          <a:xfrm>
            <a:off x="762000" y="1524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实验对象：</a:t>
            </a:r>
            <a:r>
              <a:rPr lang="en-US" sz="18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选取 TVM 和 ONNXRuntime 两大主流深度学习编译器作为测试载体。</a:t>
            </a:r>
            <a:endParaRPr lang="en-US" sz="1100"/>
          </a:p>
        </p:txBody>
      </p:sp>
      <p:sp>
        <p:nvSpPr>
          <p:cNvPr id="5" name="AutoShape 5"/>
          <p:cNvSpPr/>
          <p:nvPr/>
        </p:nvSpPr>
        <p:spPr>
          <a:xfrm>
            <a:off x="762000" y="1968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总体成果：</a:t>
            </a:r>
            <a:r>
              <a:rPr lang="en-US" sz="18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两周测试期内发现 56 个未知 Bug，其中 42 个被确认，24 个已修复。</a:t>
            </a:r>
            <a:endParaRPr lang="en-US" sz="1100"/>
          </a:p>
        </p:txBody>
      </p:sp>
      <p:sp>
        <p:nvSpPr>
          <p:cNvPr id="6" name="AutoShape 6"/>
          <p:cNvSpPr/>
          <p:nvPr/>
        </p:nvSpPr>
        <p:spPr>
          <a:xfrm>
            <a:off x="762000" y="241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对比优势：</a:t>
            </a:r>
            <a:r>
              <a:rPr lang="en-US" sz="18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12小时对比测试中，OATest 发现的 Bug 数量显著优于 NNSmith 和 WhiteFox。</a:t>
            </a:r>
            <a:endParaRPr lang="en-US" sz="1100"/>
          </a:p>
        </p:txBody>
      </p:sp>
      <p:pic>
        <p:nvPicPr>
          <p:cNvPr id="7" name="Picture 7"/>
          <p:cNvPicPr>
            <a:picLocks noChangeAspect="1"/>
          </p:cNvPicPr>
          <p:nvPr/>
        </p:nvPicPr>
        <p:blipFill>
          <a:blip r:embed="rId1"/>
          <a:srcRect/>
          <a:stretch>
            <a:fillRect/>
          </a:stretch>
        </p:blipFill>
        <p:spPr>
          <a:xfrm>
            <a:off x="4064000" y="3048000"/>
            <a:ext cx="4064000" cy="2032000"/>
          </a:xfrm>
          <a:prstGeom prst="rect">
            <a:avLst/>
          </a:prstGeom>
          <a:noFill/>
          <a:ln w="25400" cap="flat" cmpd="sng">
            <a:noFill/>
            <a:prstDash val="solid"/>
            <a:round/>
          </a:ln>
        </p:spPr>
      </p:pic>
      <p:sp>
        <p:nvSpPr>
          <p:cNvPr id="8" name="AutoShape 8"/>
          <p:cNvSpPr/>
          <p:nvPr/>
        </p:nvSpPr>
        <p:spPr>
          <a:xfrm>
            <a:off x="2921000" y="5207000"/>
            <a:ext cx="635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图 4-1：不同测试工具在 12 小时内发现的有效 Bug 数量对比</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5537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实验评估：代码覆盖能力</a:t>
            </a:r>
            <a:endParaRPr lang="en-US" sz="1100"/>
          </a:p>
        </p:txBody>
      </p:sp>
      <p:sp>
        <p:nvSpPr>
          <p:cNvPr id="3" name="AutoShape 3"/>
          <p:cNvSpPr/>
          <p:nvPr/>
        </p:nvSpPr>
        <p:spPr>
          <a:xfrm>
            <a:off x="762000" y="1778000"/>
            <a:ext cx="10668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spcBef>
                <a:spcPts val="500"/>
              </a:spcBef>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行覆盖率：</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OATest在编译器优化代码上的行覆盖率平均比基线方法高出</a:t>
            </a: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66.98%</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p>
            <a:pPr indent="0" algn="l">
              <a:lnSpc>
                <a:spcPct val="108000"/>
              </a:lnSpc>
              <a:spcBef>
                <a:spcPts val="500"/>
              </a:spcBef>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分支覆盖率：</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分支覆盖率平均高出</a:t>
            </a: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60.20%</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000"/>
              </a:spcBef>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a:t>
            </a:r>
            <a: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这证明了OATest能够更深入地探索编译器的优化代码，覆盖更多的执行路径。</a:t>
            </a:r>
            <a:endPar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 name="Picture 4"/>
          <p:cNvPicPr>
            <a:picLocks noChangeAspect="1"/>
          </p:cNvPicPr>
          <p:nvPr/>
        </p:nvPicPr>
        <p:blipFill>
          <a:blip r:embed="rId1"/>
          <a:srcRect/>
          <a:stretch>
            <a:fillRect/>
          </a:stretch>
        </p:blipFill>
        <p:spPr>
          <a:xfrm>
            <a:off x="3556000" y="3429000"/>
            <a:ext cx="5080000" cy="2540000"/>
          </a:xfrm>
          <a:prstGeom prst="rect">
            <a:avLst/>
          </a:prstGeom>
          <a:noFill/>
          <a:ln w="25400" cap="flat" cmpd="sng">
            <a:noFill/>
            <a:prstDash val="solid"/>
            <a:rou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521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5. 关键问题解答（一）</a:t>
            </a:r>
            <a:endParaRPr lang="en-US" sz="1100"/>
          </a:p>
        </p:txBody>
      </p:sp>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Q：新图合成是怎么做的，每个子图是怎么来的？</a:t>
            </a:r>
            <a:endParaRPr lang="en-US" sz="1100"/>
          </a:p>
        </p:txBody>
      </p:sp>
      <p:sp>
        <p:nvSpPr>
          <p:cNvPr id="4" name="AutoShape 4"/>
          <p:cNvSpPr/>
          <p:nvPr/>
        </p:nvSpPr>
        <p:spPr>
          <a:xfrm>
            <a:off x="762000" y="1905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子图（Pattern）来源：</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并非随机生成，而是从编译器的文档化测试中提取。这些测试由开发者编写，包含触发特定优化的关键结构，保证了模式的有效性。</a:t>
            </a:r>
            <a:endParaRPr lang="en-US" sz="1100"/>
          </a:p>
        </p:txBody>
      </p:sp>
      <p:sp>
        <p:nvSpPr>
          <p:cNvPr id="5" name="AutoShape 5"/>
          <p:cNvSpPr/>
          <p:nvPr/>
        </p:nvSpPr>
        <p:spPr>
          <a:xfrm>
            <a:off x="762000" y="2921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合成过程：</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以随机生成的“种子图”为背景，将提取的模式嵌入到种子图的随机位置。这种方式结合了文档测试的“针对性”和随机生成的“多样性”。</a:t>
            </a:r>
            <a:endParaRPr lang="en-US" sz="1100"/>
          </a:p>
        </p:txBody>
      </p:sp>
      <p:sp>
        <p:nvSpPr>
          <p:cNvPr id="6" name="AutoShape 6"/>
          <p:cNvSpPr/>
          <p:nvPr/>
        </p:nvSpPr>
        <p:spPr>
          <a:xfrm>
            <a:off x="762000" y="3937000"/>
            <a:ext cx="10668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图：论文中的合成计算图示例（Figure 10）</a:t>
            </a:r>
            <a:endParaRPr lang="en-US" sz="1100"/>
          </a:p>
        </p:txBody>
      </p:sp>
      <p:pic>
        <p:nvPicPr>
          <p:cNvPr id="7" name="Picture 7"/>
          <p:cNvPicPr>
            <a:picLocks noChangeAspect="1"/>
          </p:cNvPicPr>
          <p:nvPr/>
        </p:nvPicPr>
        <p:blipFill>
          <a:blip r:embed="rId1"/>
          <a:srcRect l="104" r="104"/>
          <a:stretch>
            <a:fillRect/>
          </a:stretch>
        </p:blipFill>
        <p:spPr>
          <a:xfrm>
            <a:off x="3683000" y="4318000"/>
            <a:ext cx="2286000" cy="1460500"/>
          </a:xfrm>
          <a:prstGeom prst="rect">
            <a:avLst/>
          </a:prstGeom>
          <a:noFill/>
          <a:ln w="12700" cap="flat" cmpd="sng">
            <a:solidFill>
              <a:srgbClr val="C8C8C8">
                <a:alpha val="100000"/>
              </a:srgbClr>
            </a:solidFill>
            <a:prstDash val="solid"/>
            <a:rou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4025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关键问题解答（二）</a:t>
            </a:r>
            <a:endParaRPr lang="en-US" sz="1100"/>
          </a:p>
        </p:txBody>
      </p:sp>
      <p:cxnSp>
        <p:nvCxnSpPr>
          <p:cNvPr id="3" name="Connector 3"/>
          <p:cNvCxnSpPr/>
          <p:nvPr/>
        </p:nvCxnSpPr>
        <p:spPr>
          <a:xfrm rot="-4092">
            <a:off x="762004" y="1708150"/>
            <a:ext cx="10668000" cy="12700"/>
          </a:xfrm>
          <a:prstGeom prst="line">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4" name="AutoShape 4"/>
          <p:cNvSpPr/>
          <p:nvPr/>
        </p:nvSpPr>
        <p:spPr>
          <a:xfrm>
            <a:off x="762000" y="19685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r>
              <a:rPr lang="en-US" sz="20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合成的过程如何避免未定义行为（形状对齐、类型对齐）？</a:t>
            </a:r>
            <a:endParaRPr lang="en-US" sz="1100"/>
          </a:p>
        </p:txBody>
      </p:sp>
      <p:sp>
        <p:nvSpPr>
          <p:cNvPr id="5" name="AutoShape 5"/>
          <p:cNvSpPr/>
          <p:nvPr/>
        </p:nvSpPr>
        <p:spPr>
          <a:xfrm>
            <a:off x="762000" y="260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OATest 采用</a:t>
            </a:r>
            <a:r>
              <a:rPr 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“先抽象、后对齐”</a:t>
            </a:r>
            <a:r>
              <a:rPr lang="en-US" sz="16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的策略来解决该问题：</a:t>
            </a:r>
            <a:endParaRPr lang="en-US" sz="1100"/>
          </a:p>
        </p:txBody>
      </p:sp>
      <p:sp>
        <p:nvSpPr>
          <p:cNvPr id="6" name="AutoShape 6"/>
          <p:cNvSpPr/>
          <p:nvPr/>
        </p:nvSpPr>
        <p:spPr>
          <a:xfrm>
            <a:off x="762000" y="3175000"/>
            <a:ext cx="10668000" cy="1079500"/>
          </a:xfrm>
          <a:prstGeom prst="roundRect">
            <a:avLst>
              <a:gd name="adj" fmla="val 11764"/>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429000"/>
            <a:ext cx="508000" cy="508000"/>
          </a:xfrm>
          <a:prstGeom prst="rect">
            <a:avLst/>
          </a:prstGeom>
        </p:spPr>
      </p:pic>
      <p:sp>
        <p:nvSpPr>
          <p:cNvPr id="8" name="AutoShape 8"/>
          <p:cNvSpPr/>
          <p:nvPr/>
        </p:nvSpPr>
        <p:spPr>
          <a:xfrm>
            <a:off x="1778000" y="3302000"/>
            <a:ext cx="9398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1. 抽象化处理 (Abstraction)</a:t>
            </a:r>
            <a:endParaRPr lang="en-US" sz="1100"/>
          </a:p>
          <a:p>
            <a:pPr indent="0" algn="l">
              <a:lnSpc>
                <a:spcPct val="125000"/>
              </a:lnSpc>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在插入前，抹除模式的具体形状和类型，使其成为一个可伸缩的模板，消除具体数值的干扰。</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4381500"/>
            <a:ext cx="10668000" cy="1397000"/>
          </a:xfrm>
          <a:prstGeom prst="roundRect">
            <a:avLst>
              <a:gd name="adj" fmla="val 9090"/>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762500"/>
            <a:ext cx="508000" cy="508000"/>
          </a:xfrm>
          <a:prstGeom prst="rect">
            <a:avLst/>
          </a:prstGeom>
        </p:spPr>
      </p:pic>
      <p:sp>
        <p:nvSpPr>
          <p:cNvPr id="11" name="AutoShape 11"/>
          <p:cNvSpPr/>
          <p:nvPr/>
        </p:nvSpPr>
        <p:spPr>
          <a:xfrm>
            <a:off x="1778000" y="4508500"/>
            <a:ext cx="9398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 兼容性对齐策略 (Alignment)</a:t>
            </a:r>
            <a:endParaRPr lang="en-US" sz="1100"/>
          </a:p>
          <a:p>
            <a:pPr indent="0" algn="l">
              <a:lnSpc>
                <a:spcPct val="125000"/>
              </a:lnSpc>
            </a:pP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重用 (Reuse)：</a:t>
            </a: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优先在种子图中寻找现成的兼容变量进行直接连接。</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桥接 (Bridge)：</a:t>
            </a: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当重用失败时，通过插入转换节点（如 Padding, Reshape）强制对齐，确保图的合法性。</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521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6. 主要贡献与总结</a:t>
            </a:r>
            <a:endParaRPr lang="en-US" sz="1100"/>
          </a:p>
        </p:txBody>
      </p:sp>
      <p:cxnSp>
        <p:nvCxnSpPr>
          <p:cNvPr id="3" name="Connector 3"/>
          <p:cNvCxnSpPr/>
          <p:nvPr/>
        </p:nvCxnSpPr>
        <p:spPr>
          <a:xfrm rot="-4092">
            <a:off x="762004" y="1263650"/>
            <a:ext cx="10668000" cy="12700"/>
          </a:xfrm>
          <a:prstGeom prst="line">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406400" cy="406400"/>
          </a:xfrm>
          <a:prstGeom prst="rect">
            <a:avLst/>
          </a:prstGeom>
        </p:spPr>
      </p:pic>
      <p:sp>
        <p:nvSpPr>
          <p:cNvPr id="5" name="AutoShape 5"/>
          <p:cNvSpPr/>
          <p:nvPr/>
        </p:nvSpPr>
        <p:spPr>
          <a:xfrm>
            <a:off x="1333500" y="1600200"/>
            <a:ext cx="1009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提出新方法：计算图合成</a:t>
            </a:r>
            <a:endParaRPr lang="en-US" sz="1100"/>
          </a:p>
        </p:txBody>
      </p:sp>
      <p:sp>
        <p:nvSpPr>
          <p:cNvPr id="6" name="AutoShape 6"/>
          <p:cNvSpPr/>
          <p:nvPr/>
        </p:nvSpPr>
        <p:spPr>
          <a:xfrm>
            <a:off x="1333500" y="2032000"/>
            <a:ext cx="10096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首次提出“计算图合成”的思路，用于生成针对DL编译器优化的测试用例，为领域提供了全新的测试视角。</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857500"/>
            <a:ext cx="406400" cy="406400"/>
          </a:xfrm>
          <a:prstGeom prst="rect">
            <a:avLst/>
          </a:prstGeom>
        </p:spPr>
      </p:pic>
      <p:sp>
        <p:nvSpPr>
          <p:cNvPr id="8" name="AutoShape 8"/>
          <p:cNvSpPr/>
          <p:nvPr/>
        </p:nvSpPr>
        <p:spPr>
          <a:xfrm>
            <a:off x="1333500" y="2806700"/>
            <a:ext cx="1009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实现新技术：OATest 工具</a:t>
            </a:r>
            <a:endParaRPr lang="en-US" sz="1100"/>
          </a:p>
        </p:txBody>
      </p:sp>
      <p:sp>
        <p:nvSpPr>
          <p:cNvPr id="9" name="AutoShape 9"/>
          <p:cNvSpPr/>
          <p:nvPr/>
        </p:nvSpPr>
        <p:spPr>
          <a:xfrm>
            <a:off x="1333500" y="3238500"/>
            <a:ext cx="10096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设计并实现了OATest工具，能够从文档化测试中准确提取优化模式，并通过创新的合成策略将其与多样化上下文结合。</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064000"/>
            <a:ext cx="406400" cy="406400"/>
          </a:xfrm>
          <a:prstGeom prst="rect">
            <a:avLst/>
          </a:prstGeom>
        </p:spPr>
      </p:pic>
      <p:sp>
        <p:nvSpPr>
          <p:cNvPr id="11" name="AutoShape 11"/>
          <p:cNvSpPr/>
          <p:nvPr/>
        </p:nvSpPr>
        <p:spPr>
          <a:xfrm>
            <a:off x="1333500" y="4013200"/>
            <a:ext cx="1009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验证有效性：大规模实验验证</a:t>
            </a:r>
            <a:endParaRPr lang="en-US" sz="1100"/>
          </a:p>
        </p:txBody>
      </p:sp>
      <p:sp>
        <p:nvSpPr>
          <p:cNvPr id="12" name="AutoShape 12"/>
          <p:cNvSpPr/>
          <p:nvPr/>
        </p:nvSpPr>
        <p:spPr>
          <a:xfrm>
            <a:off x="1333500" y="4445000"/>
            <a:ext cx="10096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通过大规模实验，在两大主流编译器上发现了大量真实的、已被确认的优化错误，充分证明了OATest的优越性。</a:t>
            </a:r>
            <a:endParaRPr lang="en-US" sz="1100"/>
          </a:p>
        </p:txBody>
      </p:sp>
      <p:sp>
        <p:nvSpPr>
          <p:cNvPr id="13" name="AutoShape 13"/>
          <p:cNvSpPr/>
          <p:nvPr/>
        </p:nvSpPr>
        <p:spPr>
          <a:xfrm>
            <a:off x="762000" y="5334000"/>
            <a:ext cx="10668000" cy="1016000"/>
          </a:xfrm>
          <a:prstGeom prst="roundRect">
            <a:avLst>
              <a:gd name="adj" fmla="val 12500"/>
            </a:avLst>
          </a:prstGeom>
          <a:solidFill>
            <a:srgbClr val="F2F3F5">
              <a:alpha val="100000"/>
            </a:srgbClr>
          </a:solidFill>
          <a:ln cap="flat" cmpd="sng">
            <a:solidFill>
              <a:srgbClr val="C3CBDC">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38800"/>
            <a:ext cx="406400" cy="406400"/>
          </a:xfrm>
          <a:prstGeom prst="rect">
            <a:avLst/>
          </a:prstGeom>
        </p:spPr>
      </p:pic>
      <p:sp>
        <p:nvSpPr>
          <p:cNvPr id="15" name="AutoShape 15"/>
          <p:cNvSpPr/>
          <p:nvPr/>
        </p:nvSpPr>
        <p:spPr>
          <a:xfrm>
            <a:off x="1587500" y="5461000"/>
            <a:ext cx="95885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r>
              <a:rPr lang="en-US" sz="1600" b="0" i="0" u="none" strike="noStrike">
                <a:solidFill>
                  <a:srgbClr val="00000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OATest是一种更直接、高效的DL编译器测试方法，它规避了LLM的不确定性，利用编译器自身的高质量测试作为知识源，为保障DL编译器的可靠性提供了有力工具。</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35400" y="1651000"/>
            <a:ext cx="45212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sp>
        <p:nvSpPr>
          <p:cNvPr id="4" name="AutoShape 4"/>
          <p:cNvSpPr/>
          <p:nvPr/>
        </p:nvSpPr>
        <p:spPr>
          <a:xfrm>
            <a:off x="5842000" y="2413000"/>
            <a:ext cx="508000" cy="254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667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感谢老师的悉心指导与聆听</a:t>
            </a:r>
            <a:endParaRPr lang="en-US" sz="1100"/>
          </a:p>
        </p:txBody>
      </p:sp>
      <p:sp>
        <p:nvSpPr>
          <p:cNvPr id="6" name="AutoShape 6"/>
          <p:cNvSpPr/>
          <p:nvPr/>
        </p:nvSpPr>
        <p:spPr>
          <a:xfrm>
            <a:off x="3556000" y="3683000"/>
            <a:ext cx="5080000" cy="762000"/>
          </a:xfrm>
          <a:prstGeom prst="roundRect">
            <a:avLst>
              <a:gd name="adj" fmla="val 16666"/>
            </a:avLst>
          </a:prstGeom>
          <a:solidFill>
            <a:srgbClr val="F7F8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37000" y="3911600"/>
            <a:ext cx="304800" cy="304800"/>
          </a:xfrm>
          <a:prstGeom prst="rect">
            <a:avLst/>
          </a:prstGeom>
        </p:spPr>
      </p:pic>
      <p:sp>
        <p:nvSpPr>
          <p:cNvPr id="8" name="AutoShape 8"/>
          <p:cNvSpPr/>
          <p:nvPr/>
        </p:nvSpPr>
        <p:spPr>
          <a:xfrm>
            <a:off x="4318000" y="3873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000000"/>
                </a:solidFill>
                <a:latin typeface="Source Code Pro"/>
                <a:ea typeface="Source Code Pro"/>
                <a:cs typeface="Source Code Pro"/>
                <a:sym typeface="Source Code Pro"/>
              </a:rPr>
              <a:t>https://github.com/ShenQingchao/OATest</a:t>
            </a:r>
            <a:endParaRPr lang="en-US" sz="1100"/>
          </a:p>
        </p:txBody>
      </p:sp>
      <p:sp>
        <p:nvSpPr>
          <p:cNvPr id="9" name="AutoShape 9"/>
          <p:cNvSpPr/>
          <p:nvPr/>
        </p:nvSpPr>
        <p:spPr>
          <a:xfrm>
            <a:off x="0" y="6807200"/>
            <a:ext cx="121920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2821</Words>
  <Application>WPS 演示</Application>
  <PresentationFormat/>
  <Paragraphs>189</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15</vt:i4>
      </vt:variant>
    </vt:vector>
  </HeadingPairs>
  <TitlesOfParts>
    <vt:vector size="28" baseType="lpstr">
      <vt:lpstr>Arial</vt:lpstr>
      <vt:lpstr>宋体</vt:lpstr>
      <vt:lpstr>Wingdings</vt:lpstr>
      <vt:lpstr>Arial</vt:lpstr>
      <vt:lpstr>Noto Sans SC</vt:lpstr>
      <vt:lpstr>Poppins</vt:lpstr>
      <vt:lpstr>Segoe Print</vt:lpstr>
      <vt:lpstr>Wingdings</vt:lpstr>
      <vt:lpstr>Source Code Pro</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欧睿</cp:lastModifiedBy>
  <cp:revision>1</cp:revision>
  <dcterms:created xsi:type="dcterms:W3CDTF">2026-03-26T11:22:15Z</dcterms:created>
  <dcterms:modified xsi:type="dcterms:W3CDTF">2026-03-26T11:22:15Z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5A29EDEA805944E29B4E72404667D939_12</vt:lpwstr>
  </property>
  <property fmtid="{D5CDD505-2E9C-101B-9397-08002B2CF9AE}" pid="3" name="KSOProductBuildVer">
    <vt:lpwstr>2052-12.1.0.23542</vt:lpwstr>
  </property>
</Properties>
</file>